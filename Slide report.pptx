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6" r:id="rId9"/>
    <p:sldId id="272" r:id="rId10"/>
    <p:sldId id="268" r:id="rId11"/>
    <p:sldId id="270" r:id="rId12"/>
  </p:sldIdLst>
  <p:sldSz cx="18288000" cy="10287000"/>
  <p:notesSz cx="6858000" cy="9144000"/>
  <p:embeddedFontLst>
    <p:embeddedFont>
      <p:font typeface="Fry's Baskerville" panose="02020602070505020303" pitchFamily="18" charset="0"/>
      <p:regular r:id="rId13"/>
    </p:embeddedFont>
    <p:embeddedFont>
      <p:font typeface="Inter" panose="020B0502030000000004" pitchFamily="34" charset="0"/>
      <p:regular r:id="rId14"/>
    </p:embeddedFont>
    <p:embeddedFont>
      <p:font typeface="Inter Bold" panose="020B0802030000000004" pitchFamily="34" charset="0"/>
      <p:regular r:id="rId15"/>
      <p:bold r:id="rId16"/>
    </p:embeddedFont>
    <p:embeddedFont>
      <p:font typeface="Inter Light" panose="02000503000000020004" pitchFamily="2" charset="0"/>
      <p:regular r:id="rId17"/>
    </p:embeddedFont>
    <p:embeddedFont>
      <p:font typeface="Inter Semi-Bold" panose="02000503000000020004" pitchFamily="2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71" autoAdjust="0"/>
    <p:restoredTop sz="94656" autoAdjust="0"/>
  </p:normalViewPr>
  <p:slideViewPr>
    <p:cSldViewPr>
      <p:cViewPr varScale="1">
        <p:scale>
          <a:sx n="71" d="100"/>
          <a:sy n="71" d="100"/>
        </p:scale>
        <p:origin x="21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2870430" y="2402871"/>
            <a:ext cx="10730064" cy="5481258"/>
            <a:chOff x="0" y="0"/>
            <a:chExt cx="3845413" cy="19643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1964359"/>
            </a:xfrm>
            <a:custGeom>
              <a:avLst/>
              <a:gdLst/>
              <a:ahLst/>
              <a:cxnLst/>
              <a:rect l="l" t="t" r="r" b="b"/>
              <a:pathLst>
                <a:path w="3845413" h="1964359">
                  <a:moveTo>
                    <a:pt x="0" y="0"/>
                  </a:moveTo>
                  <a:lnTo>
                    <a:pt x="3845413" y="0"/>
                  </a:lnTo>
                  <a:lnTo>
                    <a:pt x="3845413" y="1964359"/>
                  </a:lnTo>
                  <a:lnTo>
                    <a:pt x="0" y="1964359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2011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217301" y="4166864"/>
            <a:ext cx="13052770" cy="195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0"/>
              </a:lnSpc>
            </a:pPr>
            <a:r>
              <a:rPr lang="en-US" sz="3800" b="1" spc="-285" dirty="0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PERCEZIONE PUBBLICA DELL’INTELLIGENZA ARTIFICIALE:</a:t>
            </a:r>
          </a:p>
          <a:p>
            <a:pPr algn="ctr">
              <a:lnSpc>
                <a:spcPts val="2975"/>
              </a:lnSpc>
            </a:pPr>
            <a:r>
              <a:rPr lang="en-US" sz="3500" b="1" spc="-262" dirty="0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UN’ANALISI COMPUTAZIONALE DEL DIBATTITO SU REDDIT TRAMITE</a:t>
            </a:r>
          </a:p>
          <a:p>
            <a:pPr algn="ctr">
              <a:lnSpc>
                <a:spcPts val="2975"/>
              </a:lnSpc>
            </a:pPr>
            <a:r>
              <a:rPr lang="en-US" sz="3500" b="1" spc="-262" dirty="0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EMOTION ANALYSIS, TOPIC MODELING E XAI.</a:t>
            </a:r>
          </a:p>
          <a:p>
            <a:pPr algn="l">
              <a:lnSpc>
                <a:spcPts val="5355"/>
              </a:lnSpc>
            </a:pPr>
            <a:endParaRPr lang="en-US" sz="3500" b="1" spc="-262" dirty="0">
              <a:solidFill>
                <a:srgbClr val="000000"/>
              </a:solidFill>
              <a:latin typeface="Inter Semi-Bold"/>
              <a:ea typeface="Inter Semi-Bold"/>
              <a:cs typeface="Inter Semi-Bold"/>
              <a:sym typeface="Inter Semi-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4761040" y="1028700"/>
            <a:ext cx="948381" cy="1520727"/>
          </a:xfrm>
          <a:custGeom>
            <a:avLst/>
            <a:gdLst/>
            <a:ahLst/>
            <a:cxnLst/>
            <a:rect l="l" t="t" r="r" b="b"/>
            <a:pathLst>
              <a:path w="948381" h="1520727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4409128" y="856298"/>
            <a:ext cx="2850172" cy="29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 spc="-72" dirty="0">
                <a:latin typeface="Inter"/>
                <a:ea typeface="Inter"/>
                <a:cs typeface="Inter"/>
                <a:sym typeface="Inter"/>
              </a:rPr>
              <a:t>DICEMBRE 2025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2055" y="8928735"/>
            <a:ext cx="5003175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72" dirty="0">
                <a:latin typeface="Inter"/>
                <a:ea typeface="Inter"/>
                <a:cs typeface="Inter"/>
                <a:sym typeface="Inter"/>
              </a:rPr>
              <a:t>STATISTICA E GESTIONE DELLE INFORMAZIONI</a:t>
            </a: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 spc="-72" dirty="0">
                <a:latin typeface="Inter"/>
                <a:ea typeface="Inter"/>
                <a:cs typeface="Inter"/>
                <a:sym typeface="Inter"/>
              </a:rPr>
              <a:t>ANNO 2024/2025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09421" y="6890535"/>
            <a:ext cx="7015979" cy="1232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it-IT" sz="3600" spc="-270" noProof="0" dirty="0">
                <a:latin typeface="Inter Light"/>
                <a:ea typeface="Inter Light"/>
                <a:cs typeface="Inter Light"/>
                <a:sym typeface="Inter Light"/>
              </a:rPr>
              <a:t>Studente</a:t>
            </a:r>
            <a:r>
              <a:rPr lang="en-US" sz="3600" spc="-270" dirty="0">
                <a:latin typeface="Inter Light"/>
                <a:ea typeface="Inter Light"/>
                <a:cs typeface="Inter Light"/>
                <a:sym typeface="Inter Light"/>
              </a:rPr>
              <a:t>: Andrea Porro, 896050</a:t>
            </a:r>
          </a:p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it-IT" sz="3200" spc="-270" noProof="0" dirty="0">
                <a:latin typeface="Inter Light"/>
                <a:ea typeface="Inter Light"/>
                <a:cs typeface="Inter Light"/>
                <a:sym typeface="Inter Light"/>
              </a:rPr>
              <a:t>Relatore: Lorenzo Malandri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826915" y="1600050"/>
            <a:ext cx="1263417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1397685" y="3572465"/>
            <a:ext cx="7050062" cy="3184291"/>
            <a:chOff x="0" y="0"/>
            <a:chExt cx="1856807" cy="8386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56807" cy="838661"/>
            </a:xfrm>
            <a:custGeom>
              <a:avLst/>
              <a:gdLst/>
              <a:ahLst/>
              <a:cxnLst/>
              <a:rect l="l" t="t" r="r" b="b"/>
              <a:pathLst>
                <a:path w="1856807" h="838661">
                  <a:moveTo>
                    <a:pt x="18668" y="0"/>
                  </a:moveTo>
                  <a:lnTo>
                    <a:pt x="1838138" y="0"/>
                  </a:lnTo>
                  <a:cubicBezTo>
                    <a:pt x="1848449" y="0"/>
                    <a:pt x="1856807" y="8358"/>
                    <a:pt x="1856807" y="18668"/>
                  </a:cubicBezTo>
                  <a:lnTo>
                    <a:pt x="1856807" y="819993"/>
                  </a:lnTo>
                  <a:cubicBezTo>
                    <a:pt x="1856807" y="830303"/>
                    <a:pt x="1848449" y="838661"/>
                    <a:pt x="1838138" y="838661"/>
                  </a:cubicBezTo>
                  <a:lnTo>
                    <a:pt x="18668" y="838661"/>
                  </a:lnTo>
                  <a:cubicBezTo>
                    <a:pt x="8358" y="838661"/>
                    <a:pt x="0" y="830303"/>
                    <a:pt x="0" y="819993"/>
                  </a:cubicBezTo>
                  <a:lnTo>
                    <a:pt x="0" y="18668"/>
                  </a:lnTo>
                  <a:cubicBezTo>
                    <a:pt x="0" y="8358"/>
                    <a:pt x="8358" y="0"/>
                    <a:pt x="186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56807" cy="876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94085" y="3833594"/>
            <a:ext cx="6165415" cy="248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9"/>
              </a:lnSpc>
            </a:pPr>
            <a:r>
              <a:rPr lang="en-US" sz="3821" spc="-15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</a:t>
            </a:r>
            <a:r>
              <a:rPr lang="en-US" sz="3821" b="1" spc="-15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DOMANDA DI RICERCA</a:t>
            </a:r>
          </a:p>
          <a:p>
            <a:pPr algn="ctr">
              <a:lnSpc>
                <a:spcPts val="2798"/>
              </a:lnSpc>
            </a:pPr>
            <a:endParaRPr lang="en-US" sz="3821" b="1" spc="-152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895"/>
              </a:lnSpc>
            </a:pPr>
            <a:r>
              <a:rPr lang="en-US" sz="2782" spc="-11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“In un’era definita dall’ascesa </a:t>
            </a:r>
          </a:p>
          <a:p>
            <a:pPr algn="l">
              <a:lnSpc>
                <a:spcPts val="3895"/>
              </a:lnSpc>
            </a:pPr>
            <a:r>
              <a:rPr lang="en-US" sz="2782" spc="-11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dell’Intelligenza artificiale, qual è la reale </a:t>
            </a:r>
          </a:p>
          <a:p>
            <a:pPr algn="l">
              <a:lnSpc>
                <a:spcPts val="3895"/>
              </a:lnSpc>
              <a:spcBef>
                <a:spcPct val="0"/>
              </a:spcBef>
            </a:pPr>
            <a:r>
              <a:rPr lang="en-US" sz="2782" spc="-11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percezione delle persone?”</a:t>
            </a:r>
          </a:p>
        </p:txBody>
      </p:sp>
      <p:sp>
        <p:nvSpPr>
          <p:cNvPr id="7" name="Freeform 7"/>
          <p:cNvSpPr/>
          <p:nvPr/>
        </p:nvSpPr>
        <p:spPr>
          <a:xfrm>
            <a:off x="1894085" y="3788232"/>
            <a:ext cx="762895" cy="762895"/>
          </a:xfrm>
          <a:custGeom>
            <a:avLst/>
            <a:gdLst/>
            <a:ahLst/>
            <a:cxnLst/>
            <a:rect l="l" t="t" r="r" b="b"/>
            <a:pathLst>
              <a:path w="762895" h="762895">
                <a:moveTo>
                  <a:pt x="0" y="0"/>
                </a:moveTo>
                <a:lnTo>
                  <a:pt x="762895" y="0"/>
                </a:lnTo>
                <a:lnTo>
                  <a:pt x="762895" y="762895"/>
                </a:lnTo>
                <a:lnTo>
                  <a:pt x="0" y="762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8" name="Group 8"/>
          <p:cNvGrpSpPr/>
          <p:nvPr/>
        </p:nvGrpSpPr>
        <p:grpSpPr>
          <a:xfrm>
            <a:off x="9474587" y="2822410"/>
            <a:ext cx="7601880" cy="4871497"/>
            <a:chOff x="0" y="0"/>
            <a:chExt cx="2002141" cy="13874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02141" cy="1387447"/>
            </a:xfrm>
            <a:custGeom>
              <a:avLst/>
              <a:gdLst/>
              <a:ahLst/>
              <a:cxnLst/>
              <a:rect l="l" t="t" r="r" b="b"/>
              <a:pathLst>
                <a:path w="2002141" h="1387447">
                  <a:moveTo>
                    <a:pt x="17313" y="0"/>
                  </a:moveTo>
                  <a:lnTo>
                    <a:pt x="1984828" y="0"/>
                  </a:lnTo>
                  <a:cubicBezTo>
                    <a:pt x="1989420" y="0"/>
                    <a:pt x="1993824" y="1824"/>
                    <a:pt x="1997071" y="5071"/>
                  </a:cubicBezTo>
                  <a:cubicBezTo>
                    <a:pt x="2000317" y="8318"/>
                    <a:pt x="2002141" y="12721"/>
                    <a:pt x="2002141" y="17313"/>
                  </a:cubicBezTo>
                  <a:lnTo>
                    <a:pt x="2002141" y="1370134"/>
                  </a:lnTo>
                  <a:cubicBezTo>
                    <a:pt x="2002141" y="1374726"/>
                    <a:pt x="2000317" y="1379130"/>
                    <a:pt x="1997071" y="1382377"/>
                  </a:cubicBezTo>
                  <a:cubicBezTo>
                    <a:pt x="1993824" y="1385623"/>
                    <a:pt x="1989420" y="1387447"/>
                    <a:pt x="1984828" y="1387447"/>
                  </a:cubicBezTo>
                  <a:lnTo>
                    <a:pt x="17313" y="1387447"/>
                  </a:lnTo>
                  <a:cubicBezTo>
                    <a:pt x="12721" y="1387447"/>
                    <a:pt x="8318" y="1385623"/>
                    <a:pt x="5071" y="1382377"/>
                  </a:cubicBezTo>
                  <a:cubicBezTo>
                    <a:pt x="1824" y="1379130"/>
                    <a:pt x="0" y="1374726"/>
                    <a:pt x="0" y="1370134"/>
                  </a:cubicBezTo>
                  <a:lnTo>
                    <a:pt x="0" y="17313"/>
                  </a:lnTo>
                  <a:cubicBezTo>
                    <a:pt x="0" y="12721"/>
                    <a:pt x="1824" y="8318"/>
                    <a:pt x="5071" y="5071"/>
                  </a:cubicBezTo>
                  <a:cubicBezTo>
                    <a:pt x="8318" y="1824"/>
                    <a:pt x="12721" y="0"/>
                    <a:pt x="173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02141" cy="14255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9829714" y="5931349"/>
            <a:ext cx="426162" cy="426162"/>
          </a:xfrm>
          <a:custGeom>
            <a:avLst/>
            <a:gdLst/>
            <a:ahLst/>
            <a:cxnLst/>
            <a:rect l="l" t="t" r="r" b="b"/>
            <a:pathLst>
              <a:path w="426162" h="426162">
                <a:moveTo>
                  <a:pt x="0" y="0"/>
                </a:moveTo>
                <a:lnTo>
                  <a:pt x="426163" y="0"/>
                </a:lnTo>
                <a:lnTo>
                  <a:pt x="426163" y="426162"/>
                </a:lnTo>
                <a:lnTo>
                  <a:pt x="0" y="4261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Freeform 12"/>
          <p:cNvSpPr/>
          <p:nvPr/>
        </p:nvSpPr>
        <p:spPr>
          <a:xfrm>
            <a:off x="9816294" y="5078641"/>
            <a:ext cx="415563" cy="415563"/>
          </a:xfrm>
          <a:custGeom>
            <a:avLst/>
            <a:gdLst/>
            <a:ahLst/>
            <a:cxnLst/>
            <a:rect l="l" t="t" r="r" b="b"/>
            <a:pathLst>
              <a:path w="415563" h="415563">
                <a:moveTo>
                  <a:pt x="0" y="0"/>
                </a:moveTo>
                <a:lnTo>
                  <a:pt x="415563" y="0"/>
                </a:lnTo>
                <a:lnTo>
                  <a:pt x="415563" y="415564"/>
                </a:lnTo>
                <a:lnTo>
                  <a:pt x="0" y="4155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Freeform 13"/>
          <p:cNvSpPr/>
          <p:nvPr/>
        </p:nvSpPr>
        <p:spPr>
          <a:xfrm>
            <a:off x="9784443" y="3867986"/>
            <a:ext cx="479269" cy="479269"/>
          </a:xfrm>
          <a:custGeom>
            <a:avLst/>
            <a:gdLst/>
            <a:ahLst/>
            <a:cxnLst/>
            <a:rect l="l" t="t" r="r" b="b"/>
            <a:pathLst>
              <a:path w="479269" h="479269">
                <a:moveTo>
                  <a:pt x="0" y="0"/>
                </a:moveTo>
                <a:lnTo>
                  <a:pt x="479269" y="0"/>
                </a:lnTo>
                <a:lnTo>
                  <a:pt x="479269" y="479269"/>
                </a:lnTo>
                <a:lnTo>
                  <a:pt x="0" y="4792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TextBox 14"/>
          <p:cNvSpPr txBox="1"/>
          <p:nvPr/>
        </p:nvSpPr>
        <p:spPr>
          <a:xfrm>
            <a:off x="10401128" y="2870221"/>
            <a:ext cx="6675339" cy="4738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8"/>
              </a:lnSpc>
            </a:pPr>
            <a:endParaRPr dirty="0"/>
          </a:p>
          <a:p>
            <a:pPr algn="ctr">
              <a:lnSpc>
                <a:spcPct val="150000"/>
              </a:lnSpc>
            </a:pPr>
            <a:r>
              <a:rPr lang="en-US" sz="3820" b="1" spc="-152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OBIETTIVI DELLO STUDIO</a:t>
            </a:r>
          </a:p>
          <a:p>
            <a:pPr algn="ctr">
              <a:lnSpc>
                <a:spcPct val="150000"/>
              </a:lnSpc>
            </a:pPr>
            <a:r>
              <a:rPr lang="en-US" sz="400" spc="-107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/>
            <a:r>
              <a:rPr lang="it-IT" sz="2699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Analizzare</a:t>
            </a:r>
            <a:r>
              <a:rPr lang="it-IT" sz="2699" spc="-107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il discorso spontaneo di oltre</a:t>
            </a:r>
          </a:p>
          <a:p>
            <a:pPr algn="l"/>
            <a:r>
              <a:rPr lang="it-IT" sz="2699" spc="-107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50.000 commenti provenienti da Reddit</a:t>
            </a:r>
          </a:p>
          <a:p>
            <a:pPr algn="l"/>
            <a:endParaRPr lang="it-IT" sz="2699" spc="-107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/>
            <a:r>
              <a:rPr lang="it-IT" sz="2699" spc="-107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Capire i temi specifici discussi sull’IA </a:t>
            </a:r>
          </a:p>
          <a:p>
            <a:pPr algn="l"/>
            <a:endParaRPr lang="it-IT" sz="2700" spc="-107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/>
            <a:r>
              <a:rPr lang="it-IT" sz="2699" spc="-107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Identificare le emozioni precise degli utenti</a:t>
            </a:r>
          </a:p>
          <a:p>
            <a:pPr algn="l"/>
            <a:r>
              <a:rPr lang="it-IT" sz="2700" spc="-107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/>
            <a:r>
              <a:rPr lang="it-IT" sz="2699" spc="-107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Determinare cosa rende un’opinione più</a:t>
            </a:r>
          </a:p>
          <a:p>
            <a:pPr algn="l">
              <a:spcBef>
                <a:spcPct val="0"/>
              </a:spcBef>
            </a:pPr>
            <a:r>
              <a:rPr lang="it-IT" sz="2699" spc="-107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influente di un’altra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202347" y="9050488"/>
            <a:ext cx="2691185" cy="410253"/>
            <a:chOff x="0" y="0"/>
            <a:chExt cx="708790" cy="1080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8789" cy="108050"/>
            </a:xfrm>
            <a:custGeom>
              <a:avLst/>
              <a:gdLst/>
              <a:ahLst/>
              <a:cxnLst/>
              <a:rect l="l" t="t" r="r" b="b"/>
              <a:pathLst>
                <a:path w="708789" h="108050">
                  <a:moveTo>
                    <a:pt x="48905" y="0"/>
                  </a:moveTo>
                  <a:lnTo>
                    <a:pt x="659884" y="0"/>
                  </a:lnTo>
                  <a:cubicBezTo>
                    <a:pt x="672855" y="0"/>
                    <a:pt x="685294" y="5152"/>
                    <a:pt x="694466" y="14324"/>
                  </a:cubicBezTo>
                  <a:cubicBezTo>
                    <a:pt x="703637" y="23495"/>
                    <a:pt x="708789" y="35935"/>
                    <a:pt x="708789" y="48905"/>
                  </a:cubicBezTo>
                  <a:lnTo>
                    <a:pt x="708789" y="59145"/>
                  </a:lnTo>
                  <a:cubicBezTo>
                    <a:pt x="708789" y="72115"/>
                    <a:pt x="703637" y="84555"/>
                    <a:pt x="694466" y="93726"/>
                  </a:cubicBezTo>
                  <a:cubicBezTo>
                    <a:pt x="685294" y="102898"/>
                    <a:pt x="672855" y="108050"/>
                    <a:pt x="659884" y="108050"/>
                  </a:cubicBezTo>
                  <a:lnTo>
                    <a:pt x="48905" y="108050"/>
                  </a:lnTo>
                  <a:cubicBezTo>
                    <a:pt x="35935" y="108050"/>
                    <a:pt x="23495" y="102898"/>
                    <a:pt x="14324" y="93726"/>
                  </a:cubicBezTo>
                  <a:cubicBezTo>
                    <a:pt x="5152" y="84555"/>
                    <a:pt x="0" y="72115"/>
                    <a:pt x="0" y="59145"/>
                  </a:cubicBezTo>
                  <a:lnTo>
                    <a:pt x="0" y="48905"/>
                  </a:lnTo>
                  <a:cubicBezTo>
                    <a:pt x="0" y="35935"/>
                    <a:pt x="5152" y="23495"/>
                    <a:pt x="14324" y="14324"/>
                  </a:cubicBezTo>
                  <a:cubicBezTo>
                    <a:pt x="23495" y="5152"/>
                    <a:pt x="35935" y="0"/>
                    <a:pt x="489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708790" cy="146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7942681" y="9140827"/>
            <a:ext cx="259433" cy="259433"/>
          </a:xfrm>
          <a:custGeom>
            <a:avLst/>
            <a:gdLst/>
            <a:ahLst/>
            <a:cxnLst/>
            <a:rect l="l" t="t" r="r" b="b"/>
            <a:pathLst>
              <a:path w="259433" h="259433">
                <a:moveTo>
                  <a:pt x="0" y="0"/>
                </a:moveTo>
                <a:lnTo>
                  <a:pt x="259433" y="0"/>
                </a:lnTo>
                <a:lnTo>
                  <a:pt x="259433" y="259432"/>
                </a:lnTo>
                <a:lnTo>
                  <a:pt x="0" y="2594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22" name="Group 22"/>
          <p:cNvGrpSpPr/>
          <p:nvPr/>
        </p:nvGrpSpPr>
        <p:grpSpPr>
          <a:xfrm>
            <a:off x="7798407" y="8916170"/>
            <a:ext cx="2691185" cy="554914"/>
            <a:chOff x="0" y="-38100"/>
            <a:chExt cx="708790" cy="1461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08789" cy="108050"/>
            </a:xfrm>
            <a:custGeom>
              <a:avLst/>
              <a:gdLst/>
              <a:ahLst/>
              <a:cxnLst/>
              <a:rect l="l" t="t" r="r" b="b"/>
              <a:pathLst>
                <a:path w="708789" h="108050">
                  <a:moveTo>
                    <a:pt x="48905" y="0"/>
                  </a:moveTo>
                  <a:lnTo>
                    <a:pt x="659884" y="0"/>
                  </a:lnTo>
                  <a:cubicBezTo>
                    <a:pt x="672855" y="0"/>
                    <a:pt x="685294" y="5152"/>
                    <a:pt x="694466" y="14324"/>
                  </a:cubicBezTo>
                  <a:cubicBezTo>
                    <a:pt x="703637" y="23495"/>
                    <a:pt x="708789" y="35935"/>
                    <a:pt x="708789" y="48905"/>
                  </a:cubicBezTo>
                  <a:lnTo>
                    <a:pt x="708789" y="59145"/>
                  </a:lnTo>
                  <a:cubicBezTo>
                    <a:pt x="708789" y="72115"/>
                    <a:pt x="703637" y="84555"/>
                    <a:pt x="694466" y="93726"/>
                  </a:cubicBezTo>
                  <a:cubicBezTo>
                    <a:pt x="685294" y="102898"/>
                    <a:pt x="672855" y="108050"/>
                    <a:pt x="659884" y="108050"/>
                  </a:cubicBezTo>
                  <a:lnTo>
                    <a:pt x="48905" y="108050"/>
                  </a:lnTo>
                  <a:cubicBezTo>
                    <a:pt x="35935" y="108050"/>
                    <a:pt x="23495" y="102898"/>
                    <a:pt x="14324" y="93726"/>
                  </a:cubicBezTo>
                  <a:cubicBezTo>
                    <a:pt x="5152" y="84555"/>
                    <a:pt x="0" y="72115"/>
                    <a:pt x="0" y="59145"/>
                  </a:cubicBezTo>
                  <a:lnTo>
                    <a:pt x="0" y="48905"/>
                  </a:lnTo>
                  <a:cubicBezTo>
                    <a:pt x="0" y="35935"/>
                    <a:pt x="5152" y="23495"/>
                    <a:pt x="14324" y="14324"/>
                  </a:cubicBezTo>
                  <a:cubicBezTo>
                    <a:pt x="23495" y="5152"/>
                    <a:pt x="35935" y="0"/>
                    <a:pt x="489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708790" cy="146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153213" y="9118576"/>
            <a:ext cx="2213504" cy="294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72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EMOTION ANALYSIS</a:t>
            </a:r>
          </a:p>
        </p:txBody>
      </p:sp>
      <p:sp>
        <p:nvSpPr>
          <p:cNvPr id="20" name="Freeform 20"/>
          <p:cNvSpPr/>
          <p:nvPr/>
        </p:nvSpPr>
        <p:spPr>
          <a:xfrm>
            <a:off x="4343400" y="9104649"/>
            <a:ext cx="327194" cy="327194"/>
          </a:xfrm>
          <a:custGeom>
            <a:avLst/>
            <a:gdLst/>
            <a:ahLst/>
            <a:cxnLst/>
            <a:rect l="l" t="t" r="r" b="b"/>
            <a:pathLst>
              <a:path w="327194" h="327194">
                <a:moveTo>
                  <a:pt x="0" y="0"/>
                </a:moveTo>
                <a:lnTo>
                  <a:pt x="327194" y="0"/>
                </a:lnTo>
                <a:lnTo>
                  <a:pt x="327194" y="327194"/>
                </a:lnTo>
                <a:lnTo>
                  <a:pt x="0" y="3271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1" name="TextBox 21"/>
          <p:cNvSpPr txBox="1"/>
          <p:nvPr/>
        </p:nvSpPr>
        <p:spPr>
          <a:xfrm>
            <a:off x="4714628" y="9124401"/>
            <a:ext cx="1950839" cy="294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72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TOPIC MODELING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946321" y="9093555"/>
            <a:ext cx="221128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EXPLAINABLE AI (XAI)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1394468" y="9060831"/>
            <a:ext cx="2835204" cy="410253"/>
            <a:chOff x="0" y="0"/>
            <a:chExt cx="746720" cy="1080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46720" cy="108050"/>
            </a:xfrm>
            <a:custGeom>
              <a:avLst/>
              <a:gdLst/>
              <a:ahLst/>
              <a:cxnLst/>
              <a:rect l="l" t="t" r="r" b="b"/>
              <a:pathLst>
                <a:path w="746720" h="108050">
                  <a:moveTo>
                    <a:pt x="46421" y="0"/>
                  </a:moveTo>
                  <a:lnTo>
                    <a:pt x="700299" y="0"/>
                  </a:lnTo>
                  <a:cubicBezTo>
                    <a:pt x="712611" y="0"/>
                    <a:pt x="724418" y="4891"/>
                    <a:pt x="733124" y="13596"/>
                  </a:cubicBezTo>
                  <a:cubicBezTo>
                    <a:pt x="741830" y="22302"/>
                    <a:pt x="746720" y="34109"/>
                    <a:pt x="746720" y="46421"/>
                  </a:cubicBezTo>
                  <a:lnTo>
                    <a:pt x="746720" y="61629"/>
                  </a:lnTo>
                  <a:cubicBezTo>
                    <a:pt x="746720" y="73941"/>
                    <a:pt x="741830" y="85748"/>
                    <a:pt x="733124" y="94454"/>
                  </a:cubicBezTo>
                  <a:cubicBezTo>
                    <a:pt x="724418" y="103159"/>
                    <a:pt x="712611" y="108050"/>
                    <a:pt x="700299" y="108050"/>
                  </a:cubicBezTo>
                  <a:lnTo>
                    <a:pt x="46421" y="108050"/>
                  </a:lnTo>
                  <a:cubicBezTo>
                    <a:pt x="34109" y="108050"/>
                    <a:pt x="22302" y="103159"/>
                    <a:pt x="13596" y="94454"/>
                  </a:cubicBezTo>
                  <a:cubicBezTo>
                    <a:pt x="4891" y="85748"/>
                    <a:pt x="0" y="73941"/>
                    <a:pt x="0" y="61629"/>
                  </a:cubicBezTo>
                  <a:lnTo>
                    <a:pt x="0" y="46421"/>
                  </a:lnTo>
                  <a:cubicBezTo>
                    <a:pt x="0" y="34109"/>
                    <a:pt x="4891" y="22302"/>
                    <a:pt x="13596" y="13596"/>
                  </a:cubicBezTo>
                  <a:cubicBezTo>
                    <a:pt x="22302" y="4891"/>
                    <a:pt x="34109" y="0"/>
                    <a:pt x="4642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746720" cy="146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9772021" y="6716467"/>
            <a:ext cx="479269" cy="479269"/>
          </a:xfrm>
          <a:custGeom>
            <a:avLst/>
            <a:gdLst/>
            <a:ahLst/>
            <a:cxnLst/>
            <a:rect l="l" t="t" r="r" b="b"/>
            <a:pathLst>
              <a:path w="479269" h="479269">
                <a:moveTo>
                  <a:pt x="0" y="0"/>
                </a:moveTo>
                <a:lnTo>
                  <a:pt x="479269" y="0"/>
                </a:lnTo>
                <a:lnTo>
                  <a:pt x="479269" y="479269"/>
                </a:lnTo>
                <a:lnTo>
                  <a:pt x="0" y="4792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0" name="Freeform 30"/>
          <p:cNvSpPr/>
          <p:nvPr/>
        </p:nvSpPr>
        <p:spPr>
          <a:xfrm>
            <a:off x="10101453" y="2882504"/>
            <a:ext cx="710382" cy="710382"/>
          </a:xfrm>
          <a:custGeom>
            <a:avLst/>
            <a:gdLst/>
            <a:ahLst/>
            <a:cxnLst/>
            <a:rect l="l" t="t" r="r" b="b"/>
            <a:pathLst>
              <a:path w="710382" h="710382">
                <a:moveTo>
                  <a:pt x="0" y="0"/>
                </a:moveTo>
                <a:lnTo>
                  <a:pt x="710383" y="0"/>
                </a:lnTo>
                <a:lnTo>
                  <a:pt x="710383" y="710382"/>
                </a:lnTo>
                <a:lnTo>
                  <a:pt x="0" y="7103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1" name="Freeform 31"/>
          <p:cNvSpPr/>
          <p:nvPr/>
        </p:nvSpPr>
        <p:spPr>
          <a:xfrm>
            <a:off x="11489718" y="9100071"/>
            <a:ext cx="331772" cy="331772"/>
          </a:xfrm>
          <a:custGeom>
            <a:avLst/>
            <a:gdLst/>
            <a:ahLst/>
            <a:cxnLst/>
            <a:rect l="l" t="t" r="r" b="b"/>
            <a:pathLst>
              <a:path w="331772" h="331772">
                <a:moveTo>
                  <a:pt x="0" y="0"/>
                </a:moveTo>
                <a:lnTo>
                  <a:pt x="331771" y="0"/>
                </a:lnTo>
                <a:lnTo>
                  <a:pt x="331771" y="331772"/>
                </a:lnTo>
                <a:lnTo>
                  <a:pt x="0" y="3317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2" name="TextBox 32"/>
          <p:cNvSpPr txBox="1"/>
          <p:nvPr/>
        </p:nvSpPr>
        <p:spPr>
          <a:xfrm>
            <a:off x="3085170" y="243463"/>
            <a:ext cx="1211766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spc="244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Domanda di ricerca e obiettivi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826915" y="1600050"/>
            <a:ext cx="1263417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464127" y="4731398"/>
            <a:ext cx="7669934" cy="3139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 spc="-144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         CARATTERISTICHE DI REDDIT:</a:t>
            </a:r>
          </a:p>
          <a:p>
            <a:pPr algn="ctr">
              <a:lnSpc>
                <a:spcPts val="2800"/>
              </a:lnSpc>
            </a:pPr>
            <a:endParaRPr lang="en-US" sz="3600" b="1" spc="-144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779"/>
              </a:lnSpc>
            </a:pPr>
            <a:r>
              <a:rPr lang="it-IT" sz="2699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Discussioni approfondite su argomenti complessi</a:t>
            </a:r>
          </a:p>
          <a:p>
            <a:pPr algn="l">
              <a:lnSpc>
                <a:spcPts val="2800"/>
              </a:lnSpc>
            </a:pPr>
            <a:endParaRPr lang="it-IT" sz="2699" spc="-107" noProof="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779"/>
              </a:lnSpc>
            </a:pPr>
            <a:r>
              <a:rPr lang="it-IT" sz="2699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Protezione dell’identità attraverso l’anonimato</a:t>
            </a:r>
          </a:p>
          <a:p>
            <a:pPr algn="l">
              <a:lnSpc>
                <a:spcPts val="2800"/>
              </a:lnSpc>
            </a:pPr>
            <a:endParaRPr lang="it-IT" sz="2699" spc="-107" noProof="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it-IT" sz="2699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Voto e visualizzazione chiara dell’opinione pubblica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88386" y="4572368"/>
            <a:ext cx="8455614" cy="3403080"/>
            <a:chOff x="0" y="0"/>
            <a:chExt cx="2226993" cy="8962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26993" cy="896284"/>
            </a:xfrm>
            <a:custGeom>
              <a:avLst/>
              <a:gdLst/>
              <a:ahLst/>
              <a:cxnLst/>
              <a:rect l="l" t="t" r="r" b="b"/>
              <a:pathLst>
                <a:path w="2226993" h="896284">
                  <a:moveTo>
                    <a:pt x="15565" y="0"/>
                  </a:moveTo>
                  <a:lnTo>
                    <a:pt x="2211428" y="0"/>
                  </a:lnTo>
                  <a:cubicBezTo>
                    <a:pt x="2220024" y="0"/>
                    <a:pt x="2226993" y="6969"/>
                    <a:pt x="2226993" y="15565"/>
                  </a:cubicBezTo>
                  <a:lnTo>
                    <a:pt x="2226993" y="880719"/>
                  </a:lnTo>
                  <a:cubicBezTo>
                    <a:pt x="2226993" y="884847"/>
                    <a:pt x="2225353" y="888806"/>
                    <a:pt x="2222434" y="891725"/>
                  </a:cubicBezTo>
                  <a:cubicBezTo>
                    <a:pt x="2219515" y="894644"/>
                    <a:pt x="2215556" y="896284"/>
                    <a:pt x="2211428" y="896284"/>
                  </a:cubicBezTo>
                  <a:lnTo>
                    <a:pt x="15565" y="896284"/>
                  </a:lnTo>
                  <a:cubicBezTo>
                    <a:pt x="11437" y="896284"/>
                    <a:pt x="7478" y="894644"/>
                    <a:pt x="4559" y="891725"/>
                  </a:cubicBezTo>
                  <a:cubicBezTo>
                    <a:pt x="1640" y="888806"/>
                    <a:pt x="0" y="884847"/>
                    <a:pt x="0" y="880719"/>
                  </a:cubicBezTo>
                  <a:lnTo>
                    <a:pt x="0" y="15565"/>
                  </a:lnTo>
                  <a:cubicBezTo>
                    <a:pt x="0" y="11437"/>
                    <a:pt x="1640" y="7478"/>
                    <a:pt x="4559" y="4559"/>
                  </a:cubicBezTo>
                  <a:cubicBezTo>
                    <a:pt x="7478" y="1640"/>
                    <a:pt x="11437" y="0"/>
                    <a:pt x="1556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26993" cy="934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464127" y="4695155"/>
            <a:ext cx="757370" cy="757370"/>
          </a:xfrm>
          <a:custGeom>
            <a:avLst/>
            <a:gdLst/>
            <a:ahLst/>
            <a:cxnLst/>
            <a:rect l="l" t="t" r="r" b="b"/>
            <a:pathLst>
              <a:path w="757370" h="757370">
                <a:moveTo>
                  <a:pt x="0" y="0"/>
                </a:moveTo>
                <a:lnTo>
                  <a:pt x="757370" y="0"/>
                </a:lnTo>
                <a:lnTo>
                  <a:pt x="757370" y="757370"/>
                </a:lnTo>
                <a:lnTo>
                  <a:pt x="0" y="7573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>
            <a:off x="896274" y="5743833"/>
            <a:ext cx="468007" cy="468007"/>
          </a:xfrm>
          <a:custGeom>
            <a:avLst/>
            <a:gdLst/>
            <a:ahLst/>
            <a:cxnLst/>
            <a:rect l="l" t="t" r="r" b="b"/>
            <a:pathLst>
              <a:path w="468007" h="468007">
                <a:moveTo>
                  <a:pt x="0" y="0"/>
                </a:moveTo>
                <a:lnTo>
                  <a:pt x="468007" y="0"/>
                </a:lnTo>
                <a:lnTo>
                  <a:pt x="468007" y="468007"/>
                </a:lnTo>
                <a:lnTo>
                  <a:pt x="0" y="468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904614" y="7410450"/>
            <a:ext cx="450227" cy="450227"/>
          </a:xfrm>
          <a:custGeom>
            <a:avLst/>
            <a:gdLst/>
            <a:ahLst/>
            <a:cxnLst/>
            <a:rect l="l" t="t" r="r" b="b"/>
            <a:pathLst>
              <a:path w="450227" h="450227">
                <a:moveTo>
                  <a:pt x="0" y="0"/>
                </a:moveTo>
                <a:lnTo>
                  <a:pt x="450227" y="0"/>
                </a:lnTo>
                <a:lnTo>
                  <a:pt x="450227" y="450227"/>
                </a:lnTo>
                <a:lnTo>
                  <a:pt x="0" y="4502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879557" y="6589581"/>
            <a:ext cx="457510" cy="457510"/>
          </a:xfrm>
          <a:custGeom>
            <a:avLst/>
            <a:gdLst/>
            <a:ahLst/>
            <a:cxnLst/>
            <a:rect l="l" t="t" r="r" b="b"/>
            <a:pathLst>
              <a:path w="457510" h="457510">
                <a:moveTo>
                  <a:pt x="0" y="0"/>
                </a:moveTo>
                <a:lnTo>
                  <a:pt x="457510" y="0"/>
                </a:lnTo>
                <a:lnTo>
                  <a:pt x="457510" y="457510"/>
                </a:lnTo>
                <a:lnTo>
                  <a:pt x="0" y="4575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 dirty="0"/>
          </a:p>
        </p:txBody>
      </p:sp>
      <p:sp>
        <p:nvSpPr>
          <p:cNvPr id="11" name="Freeform 11"/>
          <p:cNvSpPr/>
          <p:nvPr/>
        </p:nvSpPr>
        <p:spPr>
          <a:xfrm>
            <a:off x="10390046" y="4684069"/>
            <a:ext cx="757370" cy="757370"/>
          </a:xfrm>
          <a:custGeom>
            <a:avLst/>
            <a:gdLst/>
            <a:ahLst/>
            <a:cxnLst/>
            <a:rect l="l" t="t" r="r" b="b"/>
            <a:pathLst>
              <a:path w="757370" h="757370">
                <a:moveTo>
                  <a:pt x="0" y="0"/>
                </a:moveTo>
                <a:lnTo>
                  <a:pt x="757369" y="0"/>
                </a:lnTo>
                <a:lnTo>
                  <a:pt x="757369" y="757369"/>
                </a:lnTo>
                <a:lnTo>
                  <a:pt x="0" y="7573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TextBox 12"/>
          <p:cNvSpPr txBox="1"/>
          <p:nvPr/>
        </p:nvSpPr>
        <p:spPr>
          <a:xfrm>
            <a:off x="10526523" y="4684069"/>
            <a:ext cx="7231640" cy="3165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1" spc="-147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   DATASET E PREPROCESSING</a:t>
            </a:r>
          </a:p>
          <a:p>
            <a:pPr algn="l">
              <a:lnSpc>
                <a:spcPts val="2799"/>
              </a:lnSpc>
            </a:pPr>
            <a:endParaRPr lang="en-US" sz="3699" b="1" spc="-147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779"/>
              </a:lnSpc>
            </a:pPr>
            <a:r>
              <a:rPr lang="it-IT" sz="2699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Filtraggio temporale</a:t>
            </a:r>
          </a:p>
          <a:p>
            <a:pPr algn="l">
              <a:lnSpc>
                <a:spcPts val="2799"/>
              </a:lnSpc>
            </a:pPr>
            <a:endParaRPr lang="it-IT" sz="2699" spc="-107" noProof="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779"/>
              </a:lnSpc>
            </a:pPr>
            <a:r>
              <a:rPr lang="it-IT" sz="2699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Eliminazione post irrilevanti</a:t>
            </a:r>
          </a:p>
          <a:p>
            <a:pPr algn="l">
              <a:lnSpc>
                <a:spcPts val="2799"/>
              </a:lnSpc>
            </a:pPr>
            <a:endParaRPr lang="it-IT" sz="2699" spc="-107" noProof="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it-IT" sz="2699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Duplicati</a:t>
            </a:r>
          </a:p>
        </p:txBody>
      </p:sp>
      <p:sp>
        <p:nvSpPr>
          <p:cNvPr id="14" name="Freeform 14"/>
          <p:cNvSpPr/>
          <p:nvPr/>
        </p:nvSpPr>
        <p:spPr>
          <a:xfrm>
            <a:off x="9801808" y="4587652"/>
            <a:ext cx="7788841" cy="3425153"/>
          </a:xfrm>
          <a:custGeom>
            <a:avLst/>
            <a:gdLst/>
            <a:ahLst/>
            <a:cxnLst/>
            <a:rect l="l" t="t" r="r" b="b"/>
            <a:pathLst>
              <a:path w="2051382" h="894643">
                <a:moveTo>
                  <a:pt x="16898" y="0"/>
                </a:moveTo>
                <a:lnTo>
                  <a:pt x="2034484" y="0"/>
                </a:lnTo>
                <a:cubicBezTo>
                  <a:pt x="2038966" y="0"/>
                  <a:pt x="2043264" y="1780"/>
                  <a:pt x="2046433" y="4949"/>
                </a:cubicBezTo>
                <a:cubicBezTo>
                  <a:pt x="2049602" y="8118"/>
                  <a:pt x="2051382" y="12416"/>
                  <a:pt x="2051382" y="16898"/>
                </a:cubicBezTo>
                <a:lnTo>
                  <a:pt x="2051382" y="877745"/>
                </a:lnTo>
                <a:cubicBezTo>
                  <a:pt x="2051382" y="882227"/>
                  <a:pt x="2049602" y="886525"/>
                  <a:pt x="2046433" y="889694"/>
                </a:cubicBezTo>
                <a:cubicBezTo>
                  <a:pt x="2043264" y="892863"/>
                  <a:pt x="2038966" y="894643"/>
                  <a:pt x="2034484" y="894643"/>
                </a:cubicBezTo>
                <a:lnTo>
                  <a:pt x="16898" y="894643"/>
                </a:lnTo>
                <a:cubicBezTo>
                  <a:pt x="7565" y="894643"/>
                  <a:pt x="0" y="887078"/>
                  <a:pt x="0" y="877745"/>
                </a:cubicBezTo>
                <a:lnTo>
                  <a:pt x="0" y="16898"/>
                </a:lnTo>
                <a:cubicBezTo>
                  <a:pt x="0" y="12416"/>
                  <a:pt x="1780" y="8118"/>
                  <a:pt x="4949" y="4949"/>
                </a:cubicBezTo>
                <a:cubicBezTo>
                  <a:pt x="8118" y="1780"/>
                  <a:pt x="12416" y="0"/>
                  <a:pt x="1689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 dirty="0"/>
          </a:p>
        </p:txBody>
      </p:sp>
      <p:sp>
        <p:nvSpPr>
          <p:cNvPr id="16" name="Freeform 16"/>
          <p:cNvSpPr/>
          <p:nvPr/>
        </p:nvSpPr>
        <p:spPr>
          <a:xfrm>
            <a:off x="9893113" y="5714368"/>
            <a:ext cx="468007" cy="468007"/>
          </a:xfrm>
          <a:custGeom>
            <a:avLst/>
            <a:gdLst/>
            <a:ahLst/>
            <a:cxnLst/>
            <a:rect l="l" t="t" r="r" b="b"/>
            <a:pathLst>
              <a:path w="468007" h="468007">
                <a:moveTo>
                  <a:pt x="0" y="0"/>
                </a:moveTo>
                <a:lnTo>
                  <a:pt x="468008" y="0"/>
                </a:lnTo>
                <a:lnTo>
                  <a:pt x="468008" y="468007"/>
                </a:lnTo>
                <a:lnTo>
                  <a:pt x="0" y="4680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Freeform 17"/>
          <p:cNvSpPr/>
          <p:nvPr/>
        </p:nvSpPr>
        <p:spPr>
          <a:xfrm>
            <a:off x="9893113" y="7410450"/>
            <a:ext cx="468007" cy="468007"/>
          </a:xfrm>
          <a:custGeom>
            <a:avLst/>
            <a:gdLst/>
            <a:ahLst/>
            <a:cxnLst/>
            <a:rect l="l" t="t" r="r" b="b"/>
            <a:pathLst>
              <a:path w="468007" h="468007">
                <a:moveTo>
                  <a:pt x="0" y="0"/>
                </a:moveTo>
                <a:lnTo>
                  <a:pt x="468008" y="0"/>
                </a:lnTo>
                <a:lnTo>
                  <a:pt x="468008" y="468007"/>
                </a:lnTo>
                <a:lnTo>
                  <a:pt x="0" y="4680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8" name="Freeform 18"/>
          <p:cNvSpPr/>
          <p:nvPr/>
        </p:nvSpPr>
        <p:spPr>
          <a:xfrm>
            <a:off x="9888371" y="6565227"/>
            <a:ext cx="468007" cy="468007"/>
          </a:xfrm>
          <a:custGeom>
            <a:avLst/>
            <a:gdLst/>
            <a:ahLst/>
            <a:cxnLst/>
            <a:rect l="l" t="t" r="r" b="b"/>
            <a:pathLst>
              <a:path w="468007" h="468007">
                <a:moveTo>
                  <a:pt x="0" y="0"/>
                </a:moveTo>
                <a:lnTo>
                  <a:pt x="468007" y="0"/>
                </a:lnTo>
                <a:lnTo>
                  <a:pt x="468007" y="468007"/>
                </a:lnTo>
                <a:lnTo>
                  <a:pt x="0" y="4680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9" name="TextBox 19"/>
          <p:cNvSpPr txBox="1"/>
          <p:nvPr/>
        </p:nvSpPr>
        <p:spPr>
          <a:xfrm>
            <a:off x="2086161" y="243463"/>
            <a:ext cx="14115678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spc="244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Approccio metodologico innovativo</a:t>
            </a:r>
          </a:p>
        </p:txBody>
      </p:sp>
      <p:sp>
        <p:nvSpPr>
          <p:cNvPr id="13" name="TextBox 38">
            <a:extLst>
              <a:ext uri="{FF2B5EF4-FFF2-40B4-BE49-F238E27FC236}">
                <a16:creationId xmlns:a16="http://schemas.microsoft.com/office/drawing/2014/main" id="{D9FE61A5-CE66-7E63-7203-B359FF804038}"/>
              </a:ext>
            </a:extLst>
          </p:cNvPr>
          <p:cNvSpPr txBox="1"/>
          <p:nvPr/>
        </p:nvSpPr>
        <p:spPr>
          <a:xfrm>
            <a:off x="1028700" y="2287664"/>
            <a:ext cx="16230600" cy="1421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it-IT" sz="2699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 studio introduce un approccio data-</a:t>
            </a:r>
            <a:r>
              <a:rPr lang="it-IT" sz="2699" spc="-107" noProof="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driven</a:t>
            </a:r>
            <a:r>
              <a:rPr lang="it-IT" sz="2699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basato sull’analisi del discorso spontaneo di oltre 50.000 commenti provenienti da Reddit, offrendo una prospettiva complementare ai metodi tradizionali e garantendo costi ridotti e dati sempre aggiornati</a:t>
            </a:r>
            <a:r>
              <a:rPr lang="it-IT" sz="2400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it-IT" sz="2699" spc="-107" noProof="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826915" y="1600050"/>
            <a:ext cx="1263417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5360729" y="6004464"/>
            <a:ext cx="426162" cy="426162"/>
          </a:xfrm>
          <a:custGeom>
            <a:avLst/>
            <a:gdLst/>
            <a:ahLst/>
            <a:cxnLst/>
            <a:rect l="l" t="t" r="r" b="b"/>
            <a:pathLst>
              <a:path w="426162" h="426162">
                <a:moveTo>
                  <a:pt x="0" y="0"/>
                </a:moveTo>
                <a:lnTo>
                  <a:pt x="426162" y="0"/>
                </a:lnTo>
                <a:lnTo>
                  <a:pt x="426162" y="426163"/>
                </a:lnTo>
                <a:lnTo>
                  <a:pt x="0" y="426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5" name="Group 5"/>
          <p:cNvGrpSpPr/>
          <p:nvPr/>
        </p:nvGrpSpPr>
        <p:grpSpPr>
          <a:xfrm>
            <a:off x="5257800" y="3916348"/>
            <a:ext cx="8034267" cy="1754866"/>
            <a:chOff x="0" y="0"/>
            <a:chExt cx="2116021" cy="4621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16021" cy="462187"/>
            </a:xfrm>
            <a:custGeom>
              <a:avLst/>
              <a:gdLst/>
              <a:ahLst/>
              <a:cxnLst/>
              <a:rect l="l" t="t" r="r" b="b"/>
              <a:pathLst>
                <a:path w="2116021" h="462187">
                  <a:moveTo>
                    <a:pt x="16381" y="0"/>
                  </a:moveTo>
                  <a:lnTo>
                    <a:pt x="2099639" y="0"/>
                  </a:lnTo>
                  <a:cubicBezTo>
                    <a:pt x="2103984" y="0"/>
                    <a:pt x="2108151" y="1726"/>
                    <a:pt x="2111223" y="4798"/>
                  </a:cubicBezTo>
                  <a:cubicBezTo>
                    <a:pt x="2114295" y="7870"/>
                    <a:pt x="2116021" y="12037"/>
                    <a:pt x="2116021" y="16381"/>
                  </a:cubicBezTo>
                  <a:lnTo>
                    <a:pt x="2116021" y="445805"/>
                  </a:lnTo>
                  <a:cubicBezTo>
                    <a:pt x="2116021" y="454853"/>
                    <a:pt x="2108687" y="462187"/>
                    <a:pt x="2099639" y="462187"/>
                  </a:cubicBezTo>
                  <a:lnTo>
                    <a:pt x="16381" y="462187"/>
                  </a:lnTo>
                  <a:cubicBezTo>
                    <a:pt x="7334" y="462187"/>
                    <a:pt x="0" y="454853"/>
                    <a:pt x="0" y="445805"/>
                  </a:cubicBezTo>
                  <a:lnTo>
                    <a:pt x="0" y="16381"/>
                  </a:lnTo>
                  <a:cubicBezTo>
                    <a:pt x="0" y="7334"/>
                    <a:pt x="7334" y="0"/>
                    <a:pt x="1638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116021" cy="500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225970" y="5775125"/>
            <a:ext cx="8034267" cy="1899527"/>
            <a:chOff x="0" y="-38100"/>
            <a:chExt cx="2116021" cy="5002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16021" cy="462187"/>
            </a:xfrm>
            <a:custGeom>
              <a:avLst/>
              <a:gdLst/>
              <a:ahLst/>
              <a:cxnLst/>
              <a:rect l="l" t="t" r="r" b="b"/>
              <a:pathLst>
                <a:path w="2116021" h="462187">
                  <a:moveTo>
                    <a:pt x="16381" y="0"/>
                  </a:moveTo>
                  <a:lnTo>
                    <a:pt x="2099639" y="0"/>
                  </a:lnTo>
                  <a:cubicBezTo>
                    <a:pt x="2103984" y="0"/>
                    <a:pt x="2108151" y="1726"/>
                    <a:pt x="2111223" y="4798"/>
                  </a:cubicBezTo>
                  <a:cubicBezTo>
                    <a:pt x="2114295" y="7870"/>
                    <a:pt x="2116021" y="12037"/>
                    <a:pt x="2116021" y="16381"/>
                  </a:cubicBezTo>
                  <a:lnTo>
                    <a:pt x="2116021" y="445805"/>
                  </a:lnTo>
                  <a:cubicBezTo>
                    <a:pt x="2116021" y="454853"/>
                    <a:pt x="2108687" y="462187"/>
                    <a:pt x="2099639" y="462187"/>
                  </a:cubicBezTo>
                  <a:lnTo>
                    <a:pt x="16381" y="462187"/>
                  </a:lnTo>
                  <a:cubicBezTo>
                    <a:pt x="7334" y="462187"/>
                    <a:pt x="0" y="454853"/>
                    <a:pt x="0" y="445805"/>
                  </a:cubicBezTo>
                  <a:lnTo>
                    <a:pt x="0" y="16381"/>
                  </a:lnTo>
                  <a:cubicBezTo>
                    <a:pt x="0" y="7334"/>
                    <a:pt x="7334" y="0"/>
                    <a:pt x="1638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16021" cy="500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5452895" y="5982625"/>
            <a:ext cx="7715176" cy="1586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 spc="-119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     EMOTION ANALYSIS</a:t>
            </a:r>
          </a:p>
          <a:p>
            <a:pPr>
              <a:lnSpc>
                <a:spcPts val="2799"/>
              </a:lnSpc>
            </a:pP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Modello basato su </a:t>
            </a:r>
            <a:r>
              <a:rPr lang="it-IT" sz="1999" spc="-79" noProof="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RoBERTa</a:t>
            </a: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che va oltre alla semplice polarità </a:t>
            </a:r>
          </a:p>
          <a:p>
            <a:pPr>
              <a:lnSpc>
                <a:spcPts val="2799"/>
              </a:lnSpc>
            </a:pP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positivo/negativo/neutro, riuscendo a distinguere emozioni complesse come rabbia, paura, gioia o tristezza </a:t>
            </a:r>
          </a:p>
        </p:txBody>
      </p:sp>
      <p:sp>
        <p:nvSpPr>
          <p:cNvPr id="8" name="Freeform 8"/>
          <p:cNvSpPr/>
          <p:nvPr/>
        </p:nvSpPr>
        <p:spPr>
          <a:xfrm>
            <a:off x="5404950" y="3977453"/>
            <a:ext cx="516831" cy="516831"/>
          </a:xfrm>
          <a:custGeom>
            <a:avLst/>
            <a:gdLst/>
            <a:ahLst/>
            <a:cxnLst/>
            <a:rect l="l" t="t" r="r" b="b"/>
            <a:pathLst>
              <a:path w="516831" h="516831">
                <a:moveTo>
                  <a:pt x="0" y="0"/>
                </a:moveTo>
                <a:lnTo>
                  <a:pt x="516831" y="0"/>
                </a:lnTo>
                <a:lnTo>
                  <a:pt x="516831" y="516831"/>
                </a:lnTo>
                <a:lnTo>
                  <a:pt x="0" y="5168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TextBox 9"/>
          <p:cNvSpPr txBox="1"/>
          <p:nvPr/>
        </p:nvSpPr>
        <p:spPr>
          <a:xfrm>
            <a:off x="5403078" y="4000615"/>
            <a:ext cx="8034267" cy="1586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spc="-119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      TOPIC MODELING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Algoritmo </a:t>
            </a:r>
            <a:r>
              <a:rPr lang="it-IT" sz="1999" spc="-79" noProof="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BERTopic</a:t>
            </a: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che analizza i titoli dei post e li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it-IT" sz="1999" spc="-7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aggruppa automaticamente in base al contenuto,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it-IT" sz="1999" spc="-7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coprendo I temi nascosti nelle conversazioni.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52895" y="8023178"/>
            <a:ext cx="7649170" cy="1227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spc="-119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      EXPLAINABLE AI (XAI)</a:t>
            </a:r>
          </a:p>
          <a:p>
            <a:pPr algn="l">
              <a:lnSpc>
                <a:spcPts val="2799"/>
              </a:lnSpc>
            </a:pP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Modello Random </a:t>
            </a:r>
            <a:r>
              <a:rPr lang="it-IT" sz="1999" spc="-79" noProof="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Forest</a:t>
            </a: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con tecnica SHAP per spiegare quali variabili</a:t>
            </a:r>
          </a:p>
          <a:p>
            <a:pPr algn="l">
              <a:lnSpc>
                <a:spcPts val="2799"/>
              </a:lnSpc>
            </a:pP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Influenzano maggiormente il successo di un commento su Reddit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225005" y="7933158"/>
            <a:ext cx="8034267" cy="1536819"/>
            <a:chOff x="0" y="0"/>
            <a:chExt cx="2116021" cy="40475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16021" cy="404759"/>
            </a:xfrm>
            <a:custGeom>
              <a:avLst/>
              <a:gdLst/>
              <a:ahLst/>
              <a:cxnLst/>
              <a:rect l="l" t="t" r="r" b="b"/>
              <a:pathLst>
                <a:path w="2116021" h="404759">
                  <a:moveTo>
                    <a:pt x="16381" y="0"/>
                  </a:moveTo>
                  <a:lnTo>
                    <a:pt x="2099639" y="0"/>
                  </a:lnTo>
                  <a:cubicBezTo>
                    <a:pt x="2103984" y="0"/>
                    <a:pt x="2108151" y="1726"/>
                    <a:pt x="2111223" y="4798"/>
                  </a:cubicBezTo>
                  <a:cubicBezTo>
                    <a:pt x="2114295" y="7870"/>
                    <a:pt x="2116021" y="12037"/>
                    <a:pt x="2116021" y="16381"/>
                  </a:cubicBezTo>
                  <a:lnTo>
                    <a:pt x="2116021" y="388377"/>
                  </a:lnTo>
                  <a:cubicBezTo>
                    <a:pt x="2116021" y="392722"/>
                    <a:pt x="2114295" y="396889"/>
                    <a:pt x="2111223" y="399961"/>
                  </a:cubicBezTo>
                  <a:cubicBezTo>
                    <a:pt x="2108151" y="403033"/>
                    <a:pt x="2103984" y="404759"/>
                    <a:pt x="2099639" y="404759"/>
                  </a:cubicBezTo>
                  <a:lnTo>
                    <a:pt x="16381" y="404759"/>
                  </a:lnTo>
                  <a:cubicBezTo>
                    <a:pt x="7334" y="404759"/>
                    <a:pt x="0" y="397425"/>
                    <a:pt x="0" y="388377"/>
                  </a:cubicBezTo>
                  <a:lnTo>
                    <a:pt x="0" y="16381"/>
                  </a:lnTo>
                  <a:cubicBezTo>
                    <a:pt x="0" y="7334"/>
                    <a:pt x="7334" y="0"/>
                    <a:pt x="1638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116021" cy="442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5452895" y="8080328"/>
            <a:ext cx="468886" cy="468886"/>
          </a:xfrm>
          <a:custGeom>
            <a:avLst/>
            <a:gdLst/>
            <a:ahLst/>
            <a:cxnLst/>
            <a:rect l="l" t="t" r="r" b="b"/>
            <a:pathLst>
              <a:path w="468886" h="468886">
                <a:moveTo>
                  <a:pt x="0" y="0"/>
                </a:moveTo>
                <a:lnTo>
                  <a:pt x="468886" y="0"/>
                </a:lnTo>
                <a:lnTo>
                  <a:pt x="468886" y="468886"/>
                </a:lnTo>
                <a:lnTo>
                  <a:pt x="0" y="46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8" name="TextBox 18"/>
          <p:cNvSpPr txBox="1"/>
          <p:nvPr/>
        </p:nvSpPr>
        <p:spPr>
          <a:xfrm>
            <a:off x="2086161" y="243463"/>
            <a:ext cx="14115678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spc="244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Approccio metodologico innovativo</a:t>
            </a:r>
          </a:p>
        </p:txBody>
      </p:sp>
      <p:sp>
        <p:nvSpPr>
          <p:cNvPr id="21" name="TextBox 38">
            <a:extLst>
              <a:ext uri="{FF2B5EF4-FFF2-40B4-BE49-F238E27FC236}">
                <a16:creationId xmlns:a16="http://schemas.microsoft.com/office/drawing/2014/main" id="{D18E0590-81FE-E576-18C7-843436CAB724}"/>
              </a:ext>
            </a:extLst>
          </p:cNvPr>
          <p:cNvSpPr txBox="1"/>
          <p:nvPr/>
        </p:nvSpPr>
        <p:spPr>
          <a:xfrm>
            <a:off x="1028700" y="2287664"/>
            <a:ext cx="16230600" cy="1421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it-IT" sz="2699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 studio introduce un approccio data-</a:t>
            </a:r>
            <a:r>
              <a:rPr lang="it-IT" sz="2699" spc="-107" noProof="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driven</a:t>
            </a:r>
            <a:r>
              <a:rPr lang="it-IT" sz="2699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basato sull’analisi del discorso spontaneo di oltre 50.000 commenti provenienti da Reddit, offrendo una prospettiva complementare ai metodi tradizionali e garantendo costi ridotti e dati sempre aggiornati</a:t>
            </a:r>
            <a:r>
              <a:rPr lang="it-IT" sz="2400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it-IT" sz="2699" spc="-107" noProof="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826915" y="1600050"/>
            <a:ext cx="1263417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811948" y="3952635"/>
            <a:ext cx="525144" cy="525144"/>
          </a:xfrm>
          <a:custGeom>
            <a:avLst/>
            <a:gdLst/>
            <a:ahLst/>
            <a:cxnLst/>
            <a:rect l="l" t="t" r="r" b="b"/>
            <a:pathLst>
              <a:path w="525144" h="525144">
                <a:moveTo>
                  <a:pt x="0" y="0"/>
                </a:moveTo>
                <a:lnTo>
                  <a:pt x="525145" y="0"/>
                </a:lnTo>
                <a:lnTo>
                  <a:pt x="525145" y="525144"/>
                </a:lnTo>
                <a:lnTo>
                  <a:pt x="0" y="5251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6701585" y="5849942"/>
            <a:ext cx="577269" cy="577269"/>
          </a:xfrm>
          <a:custGeom>
            <a:avLst/>
            <a:gdLst/>
            <a:ahLst/>
            <a:cxnLst/>
            <a:rect l="l" t="t" r="r" b="b"/>
            <a:pathLst>
              <a:path w="577269" h="577269">
                <a:moveTo>
                  <a:pt x="0" y="0"/>
                </a:moveTo>
                <a:lnTo>
                  <a:pt x="577269" y="0"/>
                </a:lnTo>
                <a:lnTo>
                  <a:pt x="577269" y="577269"/>
                </a:lnTo>
                <a:lnTo>
                  <a:pt x="0" y="5772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5" name="Group 5"/>
          <p:cNvGrpSpPr/>
          <p:nvPr/>
        </p:nvGrpSpPr>
        <p:grpSpPr>
          <a:xfrm>
            <a:off x="6623489" y="5745061"/>
            <a:ext cx="5141436" cy="1448794"/>
            <a:chOff x="0" y="0"/>
            <a:chExt cx="1354123" cy="3815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54123" cy="381575"/>
            </a:xfrm>
            <a:custGeom>
              <a:avLst/>
              <a:gdLst/>
              <a:ahLst/>
              <a:cxnLst/>
              <a:rect l="l" t="t" r="r" b="b"/>
              <a:pathLst>
                <a:path w="1354123" h="381575">
                  <a:moveTo>
                    <a:pt x="25598" y="0"/>
                  </a:moveTo>
                  <a:lnTo>
                    <a:pt x="1328525" y="0"/>
                  </a:lnTo>
                  <a:cubicBezTo>
                    <a:pt x="1335314" y="0"/>
                    <a:pt x="1341825" y="2697"/>
                    <a:pt x="1346626" y="7498"/>
                  </a:cubicBezTo>
                  <a:cubicBezTo>
                    <a:pt x="1351426" y="12298"/>
                    <a:pt x="1354123" y="18809"/>
                    <a:pt x="1354123" y="25598"/>
                  </a:cubicBezTo>
                  <a:lnTo>
                    <a:pt x="1354123" y="355977"/>
                  </a:lnTo>
                  <a:cubicBezTo>
                    <a:pt x="1354123" y="362766"/>
                    <a:pt x="1351426" y="369277"/>
                    <a:pt x="1346626" y="374078"/>
                  </a:cubicBezTo>
                  <a:cubicBezTo>
                    <a:pt x="1341825" y="378878"/>
                    <a:pt x="1335314" y="381575"/>
                    <a:pt x="1328525" y="381575"/>
                  </a:cubicBezTo>
                  <a:lnTo>
                    <a:pt x="25598" y="381575"/>
                  </a:lnTo>
                  <a:cubicBezTo>
                    <a:pt x="11461" y="381575"/>
                    <a:pt x="0" y="370115"/>
                    <a:pt x="0" y="355977"/>
                  </a:cubicBezTo>
                  <a:lnTo>
                    <a:pt x="0" y="25598"/>
                  </a:lnTo>
                  <a:cubicBezTo>
                    <a:pt x="0" y="18809"/>
                    <a:pt x="2697" y="12298"/>
                    <a:pt x="7498" y="7498"/>
                  </a:cubicBezTo>
                  <a:cubicBezTo>
                    <a:pt x="12298" y="2697"/>
                    <a:pt x="18809" y="0"/>
                    <a:pt x="255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54123" cy="41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01585" y="7846060"/>
            <a:ext cx="567472" cy="567472"/>
          </a:xfrm>
          <a:custGeom>
            <a:avLst/>
            <a:gdLst/>
            <a:ahLst/>
            <a:cxnLst/>
            <a:rect l="l" t="t" r="r" b="b"/>
            <a:pathLst>
              <a:path w="567472" h="567472">
                <a:moveTo>
                  <a:pt x="0" y="0"/>
                </a:moveTo>
                <a:lnTo>
                  <a:pt x="567473" y="0"/>
                </a:lnTo>
                <a:lnTo>
                  <a:pt x="567473" y="567473"/>
                </a:lnTo>
                <a:lnTo>
                  <a:pt x="0" y="567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6701585" y="3931471"/>
            <a:ext cx="567472" cy="567472"/>
          </a:xfrm>
          <a:custGeom>
            <a:avLst/>
            <a:gdLst/>
            <a:ahLst/>
            <a:cxnLst/>
            <a:rect l="l" t="t" r="r" b="b"/>
            <a:pathLst>
              <a:path w="567472" h="567472">
                <a:moveTo>
                  <a:pt x="0" y="0"/>
                </a:moveTo>
                <a:lnTo>
                  <a:pt x="567473" y="0"/>
                </a:lnTo>
                <a:lnTo>
                  <a:pt x="567473" y="567472"/>
                </a:lnTo>
                <a:lnTo>
                  <a:pt x="0" y="5674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12676743" y="3904393"/>
            <a:ext cx="573386" cy="573386"/>
          </a:xfrm>
          <a:custGeom>
            <a:avLst/>
            <a:gdLst/>
            <a:ahLst/>
            <a:cxnLst/>
            <a:rect l="l" t="t" r="r" b="b"/>
            <a:pathLst>
              <a:path w="573386" h="573386">
                <a:moveTo>
                  <a:pt x="0" y="0"/>
                </a:moveTo>
                <a:lnTo>
                  <a:pt x="573387" y="0"/>
                </a:lnTo>
                <a:lnTo>
                  <a:pt x="573387" y="573386"/>
                </a:lnTo>
                <a:lnTo>
                  <a:pt x="0" y="5733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>
          <a:xfrm>
            <a:off x="12676743" y="5756689"/>
            <a:ext cx="573386" cy="573386"/>
          </a:xfrm>
          <a:custGeom>
            <a:avLst/>
            <a:gdLst/>
            <a:ahLst/>
            <a:cxnLst/>
            <a:rect l="l" t="t" r="r" b="b"/>
            <a:pathLst>
              <a:path w="573386" h="573386">
                <a:moveTo>
                  <a:pt x="0" y="0"/>
                </a:moveTo>
                <a:lnTo>
                  <a:pt x="573387" y="0"/>
                </a:lnTo>
                <a:lnTo>
                  <a:pt x="573387" y="573387"/>
                </a:lnTo>
                <a:lnTo>
                  <a:pt x="0" y="5733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Freeform 12"/>
          <p:cNvSpPr/>
          <p:nvPr/>
        </p:nvSpPr>
        <p:spPr>
          <a:xfrm>
            <a:off x="818913" y="5884782"/>
            <a:ext cx="518179" cy="518179"/>
          </a:xfrm>
          <a:custGeom>
            <a:avLst/>
            <a:gdLst/>
            <a:ahLst/>
            <a:cxnLst/>
            <a:rect l="l" t="t" r="r" b="b"/>
            <a:pathLst>
              <a:path w="518179" h="518179">
                <a:moveTo>
                  <a:pt x="0" y="0"/>
                </a:moveTo>
                <a:lnTo>
                  <a:pt x="518180" y="0"/>
                </a:lnTo>
                <a:lnTo>
                  <a:pt x="518180" y="518179"/>
                </a:lnTo>
                <a:lnTo>
                  <a:pt x="0" y="5181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TextBox 13"/>
          <p:cNvSpPr txBox="1"/>
          <p:nvPr/>
        </p:nvSpPr>
        <p:spPr>
          <a:xfrm>
            <a:off x="1457686" y="3964940"/>
            <a:ext cx="4283464" cy="117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 spc="-107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GEOPOLITICA</a:t>
            </a:r>
          </a:p>
          <a:p>
            <a:pPr algn="l">
              <a:lnSpc>
                <a:spcPts val="2799"/>
              </a:lnSpc>
            </a:pP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Discussione sul ruolo della Cina nell’era dell’IA.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31254" y="3964940"/>
            <a:ext cx="4283464" cy="1178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 spc="-10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STRATEGIE AZIENDALI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spc="-7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Analisi delle strategie aziendali come OpenAI.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04822" y="3895485"/>
            <a:ext cx="4283464" cy="8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 spc="-107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REGOLAMENTAZIONE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Dibattito sulle proposte governative.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57686" y="5876925"/>
            <a:ext cx="4283464" cy="8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 spc="-107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ETICA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Dibattito sull’IA responsabile</a:t>
            </a:r>
            <a:r>
              <a:rPr lang="en-US" sz="1999" spc="-7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04822" y="5712220"/>
            <a:ext cx="4283464" cy="117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 spc="-107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FORMAZIONE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Discussioni sull’educazione per affrontare l’IA.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31254" y="7788910"/>
            <a:ext cx="4283464" cy="117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 spc="-107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IMPATTO SUL LAVORO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Preoccupazioni riguardo al rischio di disoccupazione.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573282" y="3804681"/>
            <a:ext cx="5141436" cy="1448794"/>
            <a:chOff x="0" y="0"/>
            <a:chExt cx="1354123" cy="38157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54123" cy="381575"/>
            </a:xfrm>
            <a:custGeom>
              <a:avLst/>
              <a:gdLst/>
              <a:ahLst/>
              <a:cxnLst/>
              <a:rect l="l" t="t" r="r" b="b"/>
              <a:pathLst>
                <a:path w="1354123" h="381575">
                  <a:moveTo>
                    <a:pt x="25598" y="0"/>
                  </a:moveTo>
                  <a:lnTo>
                    <a:pt x="1328525" y="0"/>
                  </a:lnTo>
                  <a:cubicBezTo>
                    <a:pt x="1335314" y="0"/>
                    <a:pt x="1341825" y="2697"/>
                    <a:pt x="1346626" y="7498"/>
                  </a:cubicBezTo>
                  <a:cubicBezTo>
                    <a:pt x="1351426" y="12298"/>
                    <a:pt x="1354123" y="18809"/>
                    <a:pt x="1354123" y="25598"/>
                  </a:cubicBezTo>
                  <a:lnTo>
                    <a:pt x="1354123" y="355977"/>
                  </a:lnTo>
                  <a:cubicBezTo>
                    <a:pt x="1354123" y="362766"/>
                    <a:pt x="1351426" y="369277"/>
                    <a:pt x="1346626" y="374078"/>
                  </a:cubicBezTo>
                  <a:cubicBezTo>
                    <a:pt x="1341825" y="378878"/>
                    <a:pt x="1335314" y="381575"/>
                    <a:pt x="1328525" y="381575"/>
                  </a:cubicBezTo>
                  <a:lnTo>
                    <a:pt x="25598" y="381575"/>
                  </a:lnTo>
                  <a:cubicBezTo>
                    <a:pt x="11461" y="381575"/>
                    <a:pt x="0" y="370115"/>
                    <a:pt x="0" y="355977"/>
                  </a:cubicBezTo>
                  <a:lnTo>
                    <a:pt x="0" y="25598"/>
                  </a:lnTo>
                  <a:cubicBezTo>
                    <a:pt x="0" y="18809"/>
                    <a:pt x="2697" y="12298"/>
                    <a:pt x="7498" y="7498"/>
                  </a:cubicBezTo>
                  <a:cubicBezTo>
                    <a:pt x="12298" y="2697"/>
                    <a:pt x="18809" y="0"/>
                    <a:pt x="255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354123" cy="41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573282" y="7689135"/>
            <a:ext cx="5141436" cy="1448794"/>
            <a:chOff x="0" y="0"/>
            <a:chExt cx="1354123" cy="38157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54123" cy="381575"/>
            </a:xfrm>
            <a:custGeom>
              <a:avLst/>
              <a:gdLst/>
              <a:ahLst/>
              <a:cxnLst/>
              <a:rect l="l" t="t" r="r" b="b"/>
              <a:pathLst>
                <a:path w="1354123" h="381575">
                  <a:moveTo>
                    <a:pt x="25598" y="0"/>
                  </a:moveTo>
                  <a:lnTo>
                    <a:pt x="1328525" y="0"/>
                  </a:lnTo>
                  <a:cubicBezTo>
                    <a:pt x="1335314" y="0"/>
                    <a:pt x="1341825" y="2697"/>
                    <a:pt x="1346626" y="7498"/>
                  </a:cubicBezTo>
                  <a:cubicBezTo>
                    <a:pt x="1351426" y="12298"/>
                    <a:pt x="1354123" y="18809"/>
                    <a:pt x="1354123" y="25598"/>
                  </a:cubicBezTo>
                  <a:lnTo>
                    <a:pt x="1354123" y="355977"/>
                  </a:lnTo>
                  <a:cubicBezTo>
                    <a:pt x="1354123" y="362766"/>
                    <a:pt x="1351426" y="369277"/>
                    <a:pt x="1346626" y="374078"/>
                  </a:cubicBezTo>
                  <a:cubicBezTo>
                    <a:pt x="1341825" y="378878"/>
                    <a:pt x="1335314" y="381575"/>
                    <a:pt x="1328525" y="381575"/>
                  </a:cubicBezTo>
                  <a:lnTo>
                    <a:pt x="25598" y="381575"/>
                  </a:lnTo>
                  <a:cubicBezTo>
                    <a:pt x="11461" y="381575"/>
                    <a:pt x="0" y="370115"/>
                    <a:pt x="0" y="355977"/>
                  </a:cubicBezTo>
                  <a:lnTo>
                    <a:pt x="0" y="25598"/>
                  </a:lnTo>
                  <a:cubicBezTo>
                    <a:pt x="0" y="18809"/>
                    <a:pt x="2697" y="12298"/>
                    <a:pt x="7498" y="7498"/>
                  </a:cubicBezTo>
                  <a:cubicBezTo>
                    <a:pt x="12298" y="2697"/>
                    <a:pt x="18809" y="0"/>
                    <a:pt x="255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354123" cy="41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536831" y="5666438"/>
            <a:ext cx="5141436" cy="1448794"/>
            <a:chOff x="0" y="0"/>
            <a:chExt cx="1354123" cy="3815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354123" cy="381575"/>
            </a:xfrm>
            <a:custGeom>
              <a:avLst/>
              <a:gdLst/>
              <a:ahLst/>
              <a:cxnLst/>
              <a:rect l="l" t="t" r="r" b="b"/>
              <a:pathLst>
                <a:path w="1354123" h="381575">
                  <a:moveTo>
                    <a:pt x="25598" y="0"/>
                  </a:moveTo>
                  <a:lnTo>
                    <a:pt x="1328525" y="0"/>
                  </a:lnTo>
                  <a:cubicBezTo>
                    <a:pt x="1335314" y="0"/>
                    <a:pt x="1341825" y="2697"/>
                    <a:pt x="1346626" y="7498"/>
                  </a:cubicBezTo>
                  <a:cubicBezTo>
                    <a:pt x="1351426" y="12298"/>
                    <a:pt x="1354123" y="18809"/>
                    <a:pt x="1354123" y="25598"/>
                  </a:cubicBezTo>
                  <a:lnTo>
                    <a:pt x="1354123" y="355977"/>
                  </a:lnTo>
                  <a:cubicBezTo>
                    <a:pt x="1354123" y="362766"/>
                    <a:pt x="1351426" y="369277"/>
                    <a:pt x="1346626" y="374078"/>
                  </a:cubicBezTo>
                  <a:cubicBezTo>
                    <a:pt x="1341825" y="378878"/>
                    <a:pt x="1335314" y="381575"/>
                    <a:pt x="1328525" y="381575"/>
                  </a:cubicBezTo>
                  <a:lnTo>
                    <a:pt x="25598" y="381575"/>
                  </a:lnTo>
                  <a:cubicBezTo>
                    <a:pt x="11461" y="381575"/>
                    <a:pt x="0" y="370115"/>
                    <a:pt x="0" y="355977"/>
                  </a:cubicBezTo>
                  <a:lnTo>
                    <a:pt x="0" y="25598"/>
                  </a:lnTo>
                  <a:cubicBezTo>
                    <a:pt x="0" y="18809"/>
                    <a:pt x="2697" y="12298"/>
                    <a:pt x="7498" y="7498"/>
                  </a:cubicBezTo>
                  <a:cubicBezTo>
                    <a:pt x="12298" y="2697"/>
                    <a:pt x="18809" y="0"/>
                    <a:pt x="255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354123" cy="41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536831" y="3806122"/>
            <a:ext cx="5141436" cy="1448794"/>
            <a:chOff x="0" y="0"/>
            <a:chExt cx="1354123" cy="38157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54123" cy="381575"/>
            </a:xfrm>
            <a:custGeom>
              <a:avLst/>
              <a:gdLst/>
              <a:ahLst/>
              <a:cxnLst/>
              <a:rect l="l" t="t" r="r" b="b"/>
              <a:pathLst>
                <a:path w="1354123" h="381575">
                  <a:moveTo>
                    <a:pt x="25598" y="0"/>
                  </a:moveTo>
                  <a:lnTo>
                    <a:pt x="1328525" y="0"/>
                  </a:lnTo>
                  <a:cubicBezTo>
                    <a:pt x="1335314" y="0"/>
                    <a:pt x="1341825" y="2697"/>
                    <a:pt x="1346626" y="7498"/>
                  </a:cubicBezTo>
                  <a:cubicBezTo>
                    <a:pt x="1351426" y="12298"/>
                    <a:pt x="1354123" y="18809"/>
                    <a:pt x="1354123" y="25598"/>
                  </a:cubicBezTo>
                  <a:lnTo>
                    <a:pt x="1354123" y="355977"/>
                  </a:lnTo>
                  <a:cubicBezTo>
                    <a:pt x="1354123" y="362766"/>
                    <a:pt x="1351426" y="369277"/>
                    <a:pt x="1346626" y="374078"/>
                  </a:cubicBezTo>
                  <a:cubicBezTo>
                    <a:pt x="1341825" y="378878"/>
                    <a:pt x="1335314" y="381575"/>
                    <a:pt x="1328525" y="381575"/>
                  </a:cubicBezTo>
                  <a:lnTo>
                    <a:pt x="25598" y="381575"/>
                  </a:lnTo>
                  <a:cubicBezTo>
                    <a:pt x="11461" y="381575"/>
                    <a:pt x="0" y="370115"/>
                    <a:pt x="0" y="355977"/>
                  </a:cubicBezTo>
                  <a:lnTo>
                    <a:pt x="0" y="25598"/>
                  </a:lnTo>
                  <a:cubicBezTo>
                    <a:pt x="0" y="18809"/>
                    <a:pt x="2697" y="12298"/>
                    <a:pt x="7498" y="7498"/>
                  </a:cubicBezTo>
                  <a:cubicBezTo>
                    <a:pt x="12298" y="2697"/>
                    <a:pt x="18809" y="0"/>
                    <a:pt x="255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354123" cy="41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99714" y="5594108"/>
            <a:ext cx="5151323" cy="1617706"/>
            <a:chOff x="0" y="-38100"/>
            <a:chExt cx="1356727" cy="426062"/>
          </a:xfrm>
        </p:grpSpPr>
        <p:sp>
          <p:nvSpPr>
            <p:cNvPr id="32" name="Freeform 32"/>
            <p:cNvSpPr/>
            <p:nvPr/>
          </p:nvSpPr>
          <p:spPr>
            <a:xfrm>
              <a:off x="2604" y="6387"/>
              <a:ext cx="1354123" cy="381575"/>
            </a:xfrm>
            <a:custGeom>
              <a:avLst/>
              <a:gdLst/>
              <a:ahLst/>
              <a:cxnLst/>
              <a:rect l="l" t="t" r="r" b="b"/>
              <a:pathLst>
                <a:path w="1354123" h="381575">
                  <a:moveTo>
                    <a:pt x="25598" y="0"/>
                  </a:moveTo>
                  <a:lnTo>
                    <a:pt x="1328525" y="0"/>
                  </a:lnTo>
                  <a:cubicBezTo>
                    <a:pt x="1335314" y="0"/>
                    <a:pt x="1341825" y="2697"/>
                    <a:pt x="1346626" y="7498"/>
                  </a:cubicBezTo>
                  <a:cubicBezTo>
                    <a:pt x="1351426" y="12298"/>
                    <a:pt x="1354123" y="18809"/>
                    <a:pt x="1354123" y="25598"/>
                  </a:cubicBezTo>
                  <a:lnTo>
                    <a:pt x="1354123" y="355977"/>
                  </a:lnTo>
                  <a:cubicBezTo>
                    <a:pt x="1354123" y="362766"/>
                    <a:pt x="1351426" y="369277"/>
                    <a:pt x="1346626" y="374078"/>
                  </a:cubicBezTo>
                  <a:cubicBezTo>
                    <a:pt x="1341825" y="378878"/>
                    <a:pt x="1335314" y="381575"/>
                    <a:pt x="1328525" y="381575"/>
                  </a:cubicBezTo>
                  <a:lnTo>
                    <a:pt x="25598" y="381575"/>
                  </a:lnTo>
                  <a:cubicBezTo>
                    <a:pt x="11461" y="381575"/>
                    <a:pt x="0" y="370115"/>
                    <a:pt x="0" y="355977"/>
                  </a:cubicBezTo>
                  <a:lnTo>
                    <a:pt x="0" y="25598"/>
                  </a:lnTo>
                  <a:cubicBezTo>
                    <a:pt x="0" y="18809"/>
                    <a:pt x="2697" y="12298"/>
                    <a:pt x="7498" y="7498"/>
                  </a:cubicBezTo>
                  <a:cubicBezTo>
                    <a:pt x="12298" y="2697"/>
                    <a:pt x="18809" y="0"/>
                    <a:pt x="255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354123" cy="41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99714" y="3847599"/>
            <a:ext cx="5141436" cy="1448794"/>
            <a:chOff x="0" y="0"/>
            <a:chExt cx="1354123" cy="38157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54123" cy="381575"/>
            </a:xfrm>
            <a:custGeom>
              <a:avLst/>
              <a:gdLst/>
              <a:ahLst/>
              <a:cxnLst/>
              <a:rect l="l" t="t" r="r" b="b"/>
              <a:pathLst>
                <a:path w="1354123" h="381575">
                  <a:moveTo>
                    <a:pt x="25598" y="0"/>
                  </a:moveTo>
                  <a:lnTo>
                    <a:pt x="1328525" y="0"/>
                  </a:lnTo>
                  <a:cubicBezTo>
                    <a:pt x="1335314" y="0"/>
                    <a:pt x="1341825" y="2697"/>
                    <a:pt x="1346626" y="7498"/>
                  </a:cubicBezTo>
                  <a:cubicBezTo>
                    <a:pt x="1351426" y="12298"/>
                    <a:pt x="1354123" y="18809"/>
                    <a:pt x="1354123" y="25598"/>
                  </a:cubicBezTo>
                  <a:lnTo>
                    <a:pt x="1354123" y="355977"/>
                  </a:lnTo>
                  <a:cubicBezTo>
                    <a:pt x="1354123" y="362766"/>
                    <a:pt x="1351426" y="369277"/>
                    <a:pt x="1346626" y="374078"/>
                  </a:cubicBezTo>
                  <a:cubicBezTo>
                    <a:pt x="1341825" y="378878"/>
                    <a:pt x="1335314" y="381575"/>
                    <a:pt x="1328525" y="381575"/>
                  </a:cubicBezTo>
                  <a:lnTo>
                    <a:pt x="25598" y="381575"/>
                  </a:lnTo>
                  <a:cubicBezTo>
                    <a:pt x="11461" y="381575"/>
                    <a:pt x="0" y="370115"/>
                    <a:pt x="0" y="355977"/>
                  </a:cubicBezTo>
                  <a:lnTo>
                    <a:pt x="0" y="25598"/>
                  </a:lnTo>
                  <a:cubicBezTo>
                    <a:pt x="0" y="18809"/>
                    <a:pt x="2697" y="12298"/>
                    <a:pt x="7498" y="7498"/>
                  </a:cubicBezTo>
                  <a:cubicBezTo>
                    <a:pt x="12298" y="2697"/>
                    <a:pt x="18809" y="0"/>
                    <a:pt x="2559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354123" cy="419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410359" y="243463"/>
            <a:ext cx="11467281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spc="244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Risultati del Topic Modeling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28700" y="2287664"/>
            <a:ext cx="16230600" cy="941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it-IT" sz="2699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L’analisi del Topic </a:t>
            </a:r>
            <a:r>
              <a:rPr lang="it-IT" sz="2699" spc="-107" noProof="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Modeling</a:t>
            </a:r>
            <a:r>
              <a:rPr lang="it-IT" sz="2699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ha evidenziato la presenza di 7 cluster tematici distinti nel dibattito pubblico sull’IA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431254" y="5876925"/>
            <a:ext cx="4283464" cy="117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 spc="-107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IMPATTO ECONOMICO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Discussioni sull’impatto economico dell’IA nelle imprese.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229356-26C0-E0EC-AEBC-658E03373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A4EA95DB-C863-6B45-728B-0DB23D0E0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695" y="2669887"/>
            <a:ext cx="7807730" cy="6310578"/>
          </a:xfrm>
          <a:prstGeom prst="rect">
            <a:avLst/>
          </a:prstGeom>
        </p:spPr>
      </p:pic>
      <p:sp>
        <p:nvSpPr>
          <p:cNvPr id="40" name="AutoShape 2">
            <a:extLst>
              <a:ext uri="{FF2B5EF4-FFF2-40B4-BE49-F238E27FC236}">
                <a16:creationId xmlns:a16="http://schemas.microsoft.com/office/drawing/2014/main" id="{8F7060C6-BD70-DA11-6842-2CC490F71F5D}"/>
              </a:ext>
            </a:extLst>
          </p:cNvPr>
          <p:cNvSpPr/>
          <p:nvPr/>
        </p:nvSpPr>
        <p:spPr>
          <a:xfrm>
            <a:off x="2826915" y="1600050"/>
            <a:ext cx="1263417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Box 7">
            <a:extLst>
              <a:ext uri="{FF2B5EF4-FFF2-40B4-BE49-F238E27FC236}">
                <a16:creationId xmlns:a16="http://schemas.microsoft.com/office/drawing/2014/main" id="{42332570-C688-2B75-3722-2D3B48ECBF34}"/>
              </a:ext>
            </a:extLst>
          </p:cNvPr>
          <p:cNvSpPr txBox="1"/>
          <p:nvPr/>
        </p:nvSpPr>
        <p:spPr>
          <a:xfrm>
            <a:off x="3049079" y="243463"/>
            <a:ext cx="12189842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it-IT" sz="6999" spc="244" noProof="0" dirty="0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Intersezione Topic - Emozioni</a:t>
            </a:r>
          </a:p>
        </p:txBody>
      </p:sp>
      <p:grpSp>
        <p:nvGrpSpPr>
          <p:cNvPr id="42" name="Group 4">
            <a:extLst>
              <a:ext uri="{FF2B5EF4-FFF2-40B4-BE49-F238E27FC236}">
                <a16:creationId xmlns:a16="http://schemas.microsoft.com/office/drawing/2014/main" id="{F5C946BB-0F9B-A58F-057A-0CAC53FBEE20}"/>
              </a:ext>
            </a:extLst>
          </p:cNvPr>
          <p:cNvGrpSpPr/>
          <p:nvPr/>
        </p:nvGrpSpPr>
        <p:grpSpPr>
          <a:xfrm>
            <a:off x="8199632" y="2669887"/>
            <a:ext cx="7829857" cy="6328462"/>
            <a:chOff x="0" y="0"/>
            <a:chExt cx="2062185" cy="1666755"/>
          </a:xfrm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F76D903B-A3B1-BC5A-F15D-B7552C8D87EC}"/>
                </a:ext>
              </a:extLst>
            </p:cNvPr>
            <p:cNvSpPr/>
            <p:nvPr/>
          </p:nvSpPr>
          <p:spPr>
            <a:xfrm>
              <a:off x="0" y="0"/>
              <a:ext cx="2062185" cy="1666755"/>
            </a:xfrm>
            <a:custGeom>
              <a:avLst/>
              <a:gdLst/>
              <a:ahLst/>
              <a:cxnLst/>
              <a:rect l="l" t="t" r="r" b="b"/>
              <a:pathLst>
                <a:path w="2062185" h="1666755">
                  <a:moveTo>
                    <a:pt x="0" y="0"/>
                  </a:moveTo>
                  <a:lnTo>
                    <a:pt x="2062185" y="0"/>
                  </a:lnTo>
                  <a:lnTo>
                    <a:pt x="2062185" y="1666755"/>
                  </a:lnTo>
                  <a:lnTo>
                    <a:pt x="0" y="16667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TextBox 6">
              <a:extLst>
                <a:ext uri="{FF2B5EF4-FFF2-40B4-BE49-F238E27FC236}">
                  <a16:creationId xmlns:a16="http://schemas.microsoft.com/office/drawing/2014/main" id="{DFF6C31D-2C55-627E-6A82-B47A69CD1BE1}"/>
                </a:ext>
              </a:extLst>
            </p:cNvPr>
            <p:cNvSpPr txBox="1"/>
            <p:nvPr/>
          </p:nvSpPr>
          <p:spPr>
            <a:xfrm>
              <a:off x="0" y="-38100"/>
              <a:ext cx="2062185" cy="1704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6" name="Group 9">
            <a:extLst>
              <a:ext uri="{FF2B5EF4-FFF2-40B4-BE49-F238E27FC236}">
                <a16:creationId xmlns:a16="http://schemas.microsoft.com/office/drawing/2014/main" id="{8180BD9E-3728-6945-4252-801467B18369}"/>
              </a:ext>
            </a:extLst>
          </p:cNvPr>
          <p:cNvGrpSpPr/>
          <p:nvPr/>
        </p:nvGrpSpPr>
        <p:grpSpPr>
          <a:xfrm>
            <a:off x="1985627" y="3447534"/>
            <a:ext cx="5366306" cy="1848366"/>
            <a:chOff x="0" y="0"/>
            <a:chExt cx="1413348" cy="486813"/>
          </a:xfrm>
        </p:grpSpPr>
        <p:sp>
          <p:nvSpPr>
            <p:cNvPr id="47" name="Freeform 10">
              <a:extLst>
                <a:ext uri="{FF2B5EF4-FFF2-40B4-BE49-F238E27FC236}">
                  <a16:creationId xmlns:a16="http://schemas.microsoft.com/office/drawing/2014/main" id="{50DD398B-5AE8-BE4E-778E-A90AB0AFF84D}"/>
                </a:ext>
              </a:extLst>
            </p:cNvPr>
            <p:cNvSpPr/>
            <p:nvPr/>
          </p:nvSpPr>
          <p:spPr>
            <a:xfrm>
              <a:off x="0" y="0"/>
              <a:ext cx="1413348" cy="486812"/>
            </a:xfrm>
            <a:custGeom>
              <a:avLst/>
              <a:gdLst/>
              <a:ahLst/>
              <a:cxnLst/>
              <a:rect l="l" t="t" r="r" b="b"/>
              <a:pathLst>
                <a:path w="1413348" h="486812">
                  <a:moveTo>
                    <a:pt x="24526" y="0"/>
                  </a:moveTo>
                  <a:lnTo>
                    <a:pt x="1388822" y="0"/>
                  </a:lnTo>
                  <a:cubicBezTo>
                    <a:pt x="1402368" y="0"/>
                    <a:pt x="1413348" y="10981"/>
                    <a:pt x="1413348" y="24526"/>
                  </a:cubicBezTo>
                  <a:lnTo>
                    <a:pt x="1413348" y="462287"/>
                  </a:lnTo>
                  <a:cubicBezTo>
                    <a:pt x="1413348" y="475832"/>
                    <a:pt x="1402368" y="486812"/>
                    <a:pt x="1388822" y="486812"/>
                  </a:cubicBezTo>
                  <a:lnTo>
                    <a:pt x="24526" y="486812"/>
                  </a:lnTo>
                  <a:cubicBezTo>
                    <a:pt x="18021" y="486812"/>
                    <a:pt x="11783" y="484229"/>
                    <a:pt x="7183" y="479629"/>
                  </a:cubicBezTo>
                  <a:cubicBezTo>
                    <a:pt x="2584" y="475030"/>
                    <a:pt x="0" y="468791"/>
                    <a:pt x="0" y="462287"/>
                  </a:cubicBezTo>
                  <a:lnTo>
                    <a:pt x="0" y="24526"/>
                  </a:lnTo>
                  <a:cubicBezTo>
                    <a:pt x="0" y="10981"/>
                    <a:pt x="10981" y="0"/>
                    <a:pt x="245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8" name="TextBox 11">
              <a:extLst>
                <a:ext uri="{FF2B5EF4-FFF2-40B4-BE49-F238E27FC236}">
                  <a16:creationId xmlns:a16="http://schemas.microsoft.com/office/drawing/2014/main" id="{972F717B-B672-5903-7D4D-FF39F55FFCD4}"/>
                </a:ext>
              </a:extLst>
            </p:cNvPr>
            <p:cNvSpPr txBox="1"/>
            <p:nvPr/>
          </p:nvSpPr>
          <p:spPr>
            <a:xfrm>
              <a:off x="0" y="-38100"/>
              <a:ext cx="1413348" cy="524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2" name="TextBox 8">
            <a:extLst>
              <a:ext uri="{FF2B5EF4-FFF2-40B4-BE49-F238E27FC236}">
                <a16:creationId xmlns:a16="http://schemas.microsoft.com/office/drawing/2014/main" id="{C219BB30-4F7D-E21D-30E1-465CA6F76863}"/>
              </a:ext>
            </a:extLst>
          </p:cNvPr>
          <p:cNvSpPr txBox="1"/>
          <p:nvPr/>
        </p:nvSpPr>
        <p:spPr>
          <a:xfrm>
            <a:off x="2047514" y="3555742"/>
            <a:ext cx="5242532" cy="1586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spc="-119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OLTRE LA POLARITÀ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Una prima analisi si è concentrate sulla semplice polarità di ogni </a:t>
            </a:r>
            <a:r>
              <a:rPr lang="it-IT" sz="1999" spc="-79" noProof="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topic</a:t>
            </a: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evidenziando un trend negativo comune.</a:t>
            </a:r>
          </a:p>
        </p:txBody>
      </p:sp>
    </p:spTree>
    <p:extLst>
      <p:ext uri="{BB962C8B-B14F-4D97-AF65-F5344CB8AC3E}">
        <p14:creationId xmlns:p14="http://schemas.microsoft.com/office/powerpoint/2010/main" val="2670801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D82882-FB57-0EDB-93B1-262B83B7C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utoShape 2">
            <a:extLst>
              <a:ext uri="{FF2B5EF4-FFF2-40B4-BE49-F238E27FC236}">
                <a16:creationId xmlns:a16="http://schemas.microsoft.com/office/drawing/2014/main" id="{7C0BF929-37DD-2949-4EBD-534875EEC82B}"/>
              </a:ext>
            </a:extLst>
          </p:cNvPr>
          <p:cNvSpPr/>
          <p:nvPr/>
        </p:nvSpPr>
        <p:spPr>
          <a:xfrm>
            <a:off x="2826915" y="1600050"/>
            <a:ext cx="1263417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Box 7">
            <a:extLst>
              <a:ext uri="{FF2B5EF4-FFF2-40B4-BE49-F238E27FC236}">
                <a16:creationId xmlns:a16="http://schemas.microsoft.com/office/drawing/2014/main" id="{FAE326D8-ED4B-CB28-B46A-569718D983E2}"/>
              </a:ext>
            </a:extLst>
          </p:cNvPr>
          <p:cNvSpPr txBox="1"/>
          <p:nvPr/>
        </p:nvSpPr>
        <p:spPr>
          <a:xfrm>
            <a:off x="3049079" y="243463"/>
            <a:ext cx="12189842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it-IT" sz="6999" spc="244" noProof="0" dirty="0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Intersezione Topic - Emozioni</a:t>
            </a: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C041AEDA-11F1-8A7D-481B-9DC61CEE6F20}"/>
              </a:ext>
            </a:extLst>
          </p:cNvPr>
          <p:cNvSpPr/>
          <p:nvPr/>
        </p:nvSpPr>
        <p:spPr>
          <a:xfrm>
            <a:off x="8057200" y="2681093"/>
            <a:ext cx="9202100" cy="6328462"/>
          </a:xfrm>
          <a:custGeom>
            <a:avLst/>
            <a:gdLst/>
            <a:ahLst/>
            <a:cxnLst/>
            <a:rect l="l" t="t" r="r" b="b"/>
            <a:pathLst>
              <a:path w="9202100" h="6328462">
                <a:moveTo>
                  <a:pt x="0" y="0"/>
                </a:moveTo>
                <a:lnTo>
                  <a:pt x="9202100" y="0"/>
                </a:lnTo>
                <a:lnTo>
                  <a:pt x="9202100" y="6328462"/>
                </a:lnTo>
                <a:lnTo>
                  <a:pt x="0" y="63284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72FD8EA7-F39E-9AD9-E653-9C172E066AA7}"/>
              </a:ext>
            </a:extLst>
          </p:cNvPr>
          <p:cNvGrpSpPr/>
          <p:nvPr/>
        </p:nvGrpSpPr>
        <p:grpSpPr>
          <a:xfrm>
            <a:off x="8057200" y="2669887"/>
            <a:ext cx="9202100" cy="6328462"/>
            <a:chOff x="0" y="0"/>
            <a:chExt cx="2423598" cy="1666755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E733EB99-684C-B77D-F4A5-378F52BADB01}"/>
                </a:ext>
              </a:extLst>
            </p:cNvPr>
            <p:cNvSpPr/>
            <p:nvPr/>
          </p:nvSpPr>
          <p:spPr>
            <a:xfrm>
              <a:off x="0" y="0"/>
              <a:ext cx="2423598" cy="1666755"/>
            </a:xfrm>
            <a:custGeom>
              <a:avLst/>
              <a:gdLst/>
              <a:ahLst/>
              <a:cxnLst/>
              <a:rect l="l" t="t" r="r" b="b"/>
              <a:pathLst>
                <a:path w="2423598" h="1666755">
                  <a:moveTo>
                    <a:pt x="0" y="0"/>
                  </a:moveTo>
                  <a:lnTo>
                    <a:pt x="2423598" y="0"/>
                  </a:lnTo>
                  <a:lnTo>
                    <a:pt x="2423598" y="1666755"/>
                  </a:lnTo>
                  <a:lnTo>
                    <a:pt x="0" y="16667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0D6E9A57-D754-5EE7-7FA8-DDBFDCDFA346}"/>
                </a:ext>
              </a:extLst>
            </p:cNvPr>
            <p:cNvSpPr txBox="1"/>
            <p:nvPr/>
          </p:nvSpPr>
          <p:spPr>
            <a:xfrm>
              <a:off x="0" y="-38100"/>
              <a:ext cx="2423598" cy="1704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4">
            <a:extLst>
              <a:ext uri="{FF2B5EF4-FFF2-40B4-BE49-F238E27FC236}">
                <a16:creationId xmlns:a16="http://schemas.microsoft.com/office/drawing/2014/main" id="{D6E591F6-BF20-BB38-9CCC-28104BBC482F}"/>
              </a:ext>
            </a:extLst>
          </p:cNvPr>
          <p:cNvGrpSpPr/>
          <p:nvPr/>
        </p:nvGrpSpPr>
        <p:grpSpPr>
          <a:xfrm>
            <a:off x="1985627" y="3447534"/>
            <a:ext cx="5366306" cy="1848366"/>
            <a:chOff x="0" y="0"/>
            <a:chExt cx="1413348" cy="486813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707A2799-1C4D-DB03-2946-4652989C7AB3}"/>
                </a:ext>
              </a:extLst>
            </p:cNvPr>
            <p:cNvSpPr/>
            <p:nvPr/>
          </p:nvSpPr>
          <p:spPr>
            <a:xfrm>
              <a:off x="0" y="0"/>
              <a:ext cx="1413348" cy="486812"/>
            </a:xfrm>
            <a:custGeom>
              <a:avLst/>
              <a:gdLst/>
              <a:ahLst/>
              <a:cxnLst/>
              <a:rect l="l" t="t" r="r" b="b"/>
              <a:pathLst>
                <a:path w="1413348" h="486812">
                  <a:moveTo>
                    <a:pt x="24526" y="0"/>
                  </a:moveTo>
                  <a:lnTo>
                    <a:pt x="1388822" y="0"/>
                  </a:lnTo>
                  <a:cubicBezTo>
                    <a:pt x="1402368" y="0"/>
                    <a:pt x="1413348" y="10981"/>
                    <a:pt x="1413348" y="24526"/>
                  </a:cubicBezTo>
                  <a:lnTo>
                    <a:pt x="1413348" y="462287"/>
                  </a:lnTo>
                  <a:cubicBezTo>
                    <a:pt x="1413348" y="475832"/>
                    <a:pt x="1402368" y="486812"/>
                    <a:pt x="1388822" y="486812"/>
                  </a:cubicBezTo>
                  <a:lnTo>
                    <a:pt x="24526" y="486812"/>
                  </a:lnTo>
                  <a:cubicBezTo>
                    <a:pt x="18021" y="486812"/>
                    <a:pt x="11783" y="484229"/>
                    <a:pt x="7183" y="479629"/>
                  </a:cubicBezTo>
                  <a:cubicBezTo>
                    <a:pt x="2584" y="475030"/>
                    <a:pt x="0" y="468791"/>
                    <a:pt x="0" y="462287"/>
                  </a:cubicBezTo>
                  <a:lnTo>
                    <a:pt x="0" y="24526"/>
                  </a:lnTo>
                  <a:cubicBezTo>
                    <a:pt x="0" y="10981"/>
                    <a:pt x="10981" y="0"/>
                    <a:pt x="245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6FC85440-8404-85B4-1335-32BC533A76E5}"/>
                </a:ext>
              </a:extLst>
            </p:cNvPr>
            <p:cNvSpPr txBox="1"/>
            <p:nvPr/>
          </p:nvSpPr>
          <p:spPr>
            <a:xfrm>
              <a:off x="0" y="-38100"/>
              <a:ext cx="1413348" cy="524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TextBox 3">
            <a:extLst>
              <a:ext uri="{FF2B5EF4-FFF2-40B4-BE49-F238E27FC236}">
                <a16:creationId xmlns:a16="http://schemas.microsoft.com/office/drawing/2014/main" id="{61BB369A-78A3-0B5C-81F5-C27F5F5098A8}"/>
              </a:ext>
            </a:extLst>
          </p:cNvPr>
          <p:cNvSpPr txBox="1"/>
          <p:nvPr/>
        </p:nvSpPr>
        <p:spPr>
          <a:xfrm>
            <a:off x="2047514" y="3555742"/>
            <a:ext cx="5242532" cy="1586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spc="-119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OLTRE LA POLARITÀ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Analizzando l’intersezione tra </a:t>
            </a:r>
            <a:r>
              <a:rPr lang="it-IT" sz="1999" spc="-79" noProof="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topic</a:t>
            </a: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ed emozioni emerge che non esiste un’unica reazione all’IA. L’emozione cambia in base al tema trattato.</a:t>
            </a:r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D7A7DBAC-B3E8-8573-603D-60A4973D162C}"/>
              </a:ext>
            </a:extLst>
          </p:cNvPr>
          <p:cNvSpPr/>
          <p:nvPr/>
        </p:nvSpPr>
        <p:spPr>
          <a:xfrm>
            <a:off x="1985627" y="6391007"/>
            <a:ext cx="5366306" cy="1848362"/>
          </a:xfrm>
          <a:custGeom>
            <a:avLst/>
            <a:gdLst/>
            <a:ahLst/>
            <a:cxnLst/>
            <a:rect l="l" t="t" r="r" b="b"/>
            <a:pathLst>
              <a:path w="1413348" h="486812">
                <a:moveTo>
                  <a:pt x="24526" y="0"/>
                </a:moveTo>
                <a:lnTo>
                  <a:pt x="1388822" y="0"/>
                </a:lnTo>
                <a:cubicBezTo>
                  <a:pt x="1402368" y="0"/>
                  <a:pt x="1413348" y="10981"/>
                  <a:pt x="1413348" y="24526"/>
                </a:cubicBezTo>
                <a:lnTo>
                  <a:pt x="1413348" y="462287"/>
                </a:lnTo>
                <a:cubicBezTo>
                  <a:pt x="1413348" y="475832"/>
                  <a:pt x="1402368" y="486812"/>
                  <a:pt x="1388822" y="486812"/>
                </a:cubicBezTo>
                <a:lnTo>
                  <a:pt x="24526" y="486812"/>
                </a:lnTo>
                <a:cubicBezTo>
                  <a:pt x="18021" y="486812"/>
                  <a:pt x="11783" y="484229"/>
                  <a:pt x="7183" y="479629"/>
                </a:cubicBezTo>
                <a:cubicBezTo>
                  <a:pt x="2584" y="475030"/>
                  <a:pt x="0" y="468791"/>
                  <a:pt x="0" y="462287"/>
                </a:cubicBezTo>
                <a:lnTo>
                  <a:pt x="0" y="24526"/>
                </a:lnTo>
                <a:cubicBezTo>
                  <a:pt x="0" y="10981"/>
                  <a:pt x="10981" y="0"/>
                  <a:pt x="24526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61C87EA9-E0FC-237F-54FB-A3855575CC1B}"/>
              </a:ext>
            </a:extLst>
          </p:cNvPr>
          <p:cNvSpPr txBox="1"/>
          <p:nvPr/>
        </p:nvSpPr>
        <p:spPr>
          <a:xfrm>
            <a:off x="2032174" y="6499215"/>
            <a:ext cx="5097954" cy="1586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spc="-119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PRINCIPALI DISCOVERIES:</a:t>
            </a:r>
          </a:p>
          <a:p>
            <a:pPr algn="l">
              <a:lnSpc>
                <a:spcPts val="2799"/>
              </a:lnSpc>
            </a:pP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&gt; L’emozione ‘RABBIA’ è quella predominante in tutti I </a:t>
            </a:r>
            <a:r>
              <a:rPr lang="it-IT" sz="1999" spc="-79" noProof="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topic</a:t>
            </a:r>
            <a:endParaRPr lang="it-IT" sz="1999" spc="-79" noProof="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2799"/>
              </a:lnSpc>
            </a:pP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&gt; Ogni </a:t>
            </a:r>
            <a:r>
              <a:rPr lang="it-IT" sz="1999" spc="-79" noProof="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topic</a:t>
            </a: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ha una firma emotiva specifica</a:t>
            </a:r>
          </a:p>
        </p:txBody>
      </p:sp>
    </p:spTree>
    <p:extLst>
      <p:ext uri="{BB962C8B-B14F-4D97-AF65-F5344CB8AC3E}">
        <p14:creationId xmlns:p14="http://schemas.microsoft.com/office/powerpoint/2010/main" val="709885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1DC6E4-D629-AAEE-4EA2-B68618B50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8">
            <a:extLst>
              <a:ext uri="{FF2B5EF4-FFF2-40B4-BE49-F238E27FC236}">
                <a16:creationId xmlns:a16="http://schemas.microsoft.com/office/drawing/2014/main" id="{9A8A5DC9-9370-E750-9AF9-F7C131E2B864}"/>
              </a:ext>
            </a:extLst>
          </p:cNvPr>
          <p:cNvSpPr txBox="1"/>
          <p:nvPr/>
        </p:nvSpPr>
        <p:spPr>
          <a:xfrm>
            <a:off x="12085713" y="5839759"/>
            <a:ext cx="5173587" cy="2355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9"/>
              </a:lnSpc>
            </a:pPr>
            <a:r>
              <a:rPr lang="it-IT" sz="2999" b="1" spc="-119" noProof="0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VARIABILI PI</a:t>
            </a:r>
            <a:r>
              <a:rPr lang="it-IT" sz="3200" b="1" dirty="0" err="1"/>
              <a:t>Ù</a:t>
            </a:r>
            <a:r>
              <a:rPr lang="it-IT" sz="2999" b="1" spc="-119" noProof="0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INFLUENTI</a:t>
            </a:r>
          </a:p>
          <a:p>
            <a:pPr algn="l">
              <a:lnSpc>
                <a:spcPts val="1960"/>
              </a:lnSpc>
            </a:pPr>
            <a:endParaRPr lang="it-IT" sz="2999" b="1" spc="-119" noProof="0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2799"/>
              </a:lnSpc>
            </a:pPr>
            <a:r>
              <a:rPr lang="it-IT" sz="1999" b="1" spc="-79" noProof="0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   </a:t>
            </a: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Numero di commenti del post</a:t>
            </a:r>
          </a:p>
          <a:p>
            <a:pPr algn="l">
              <a:lnSpc>
                <a:spcPts val="1960"/>
              </a:lnSpc>
            </a:pPr>
            <a:endParaRPr lang="it-IT" sz="1999" spc="-79" noProof="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2799"/>
              </a:lnSpc>
            </a:pP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Lunghezza del testo</a:t>
            </a:r>
          </a:p>
          <a:p>
            <a:pPr algn="l">
              <a:lnSpc>
                <a:spcPts val="1960"/>
              </a:lnSpc>
            </a:pPr>
            <a:r>
              <a:rPr lang="it-IT" sz="1400" spc="-56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Intensità emotiva</a:t>
            </a:r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62A9F6F5-B8BF-54A9-D9E8-D3D48251BACD}"/>
              </a:ext>
            </a:extLst>
          </p:cNvPr>
          <p:cNvSpPr/>
          <p:nvPr/>
        </p:nvSpPr>
        <p:spPr>
          <a:xfrm>
            <a:off x="2826915" y="1600050"/>
            <a:ext cx="1263417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Box 19">
            <a:extLst>
              <a:ext uri="{FF2B5EF4-FFF2-40B4-BE49-F238E27FC236}">
                <a16:creationId xmlns:a16="http://schemas.microsoft.com/office/drawing/2014/main" id="{5F76367B-94E8-5E93-48D8-21EA04B085A4}"/>
              </a:ext>
            </a:extLst>
          </p:cNvPr>
          <p:cNvSpPr txBox="1"/>
          <p:nvPr/>
        </p:nvSpPr>
        <p:spPr>
          <a:xfrm>
            <a:off x="193439" y="243463"/>
            <a:ext cx="17901121" cy="1020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it-IT" sz="6999" spc="244" noProof="0" dirty="0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Predizione dell’engagement: risultati SHAP</a:t>
            </a:r>
          </a:p>
        </p:txBody>
      </p:sp>
      <p:sp>
        <p:nvSpPr>
          <p:cNvPr id="17" name="Freeform 15">
            <a:extLst>
              <a:ext uri="{FF2B5EF4-FFF2-40B4-BE49-F238E27FC236}">
                <a16:creationId xmlns:a16="http://schemas.microsoft.com/office/drawing/2014/main" id="{C383B700-4091-9A78-EC4E-3AF563C1807E}"/>
              </a:ext>
            </a:extLst>
          </p:cNvPr>
          <p:cNvSpPr/>
          <p:nvPr/>
        </p:nvSpPr>
        <p:spPr>
          <a:xfrm>
            <a:off x="1552977" y="2308344"/>
            <a:ext cx="8635763" cy="6340180"/>
          </a:xfrm>
          <a:custGeom>
            <a:avLst/>
            <a:gdLst/>
            <a:ahLst/>
            <a:cxnLst/>
            <a:rect l="l" t="t" r="r" b="b"/>
            <a:pathLst>
              <a:path w="8635763" h="6340180">
                <a:moveTo>
                  <a:pt x="0" y="0"/>
                </a:moveTo>
                <a:lnTo>
                  <a:pt x="8635762" y="0"/>
                </a:lnTo>
                <a:lnTo>
                  <a:pt x="8635762" y="6340180"/>
                </a:lnTo>
                <a:lnTo>
                  <a:pt x="0" y="6340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4" name="Group 16">
            <a:extLst>
              <a:ext uri="{FF2B5EF4-FFF2-40B4-BE49-F238E27FC236}">
                <a16:creationId xmlns:a16="http://schemas.microsoft.com/office/drawing/2014/main" id="{A97B9609-5B16-8369-7E2F-CCC22CF6D7CA}"/>
              </a:ext>
            </a:extLst>
          </p:cNvPr>
          <p:cNvGrpSpPr/>
          <p:nvPr/>
        </p:nvGrpSpPr>
        <p:grpSpPr>
          <a:xfrm>
            <a:off x="1552977" y="2320062"/>
            <a:ext cx="8660478" cy="6328462"/>
            <a:chOff x="0" y="0"/>
            <a:chExt cx="2280949" cy="1666755"/>
          </a:xfrm>
        </p:grpSpPr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D3015EFD-42F7-9898-9F7C-600B322CED21}"/>
                </a:ext>
              </a:extLst>
            </p:cNvPr>
            <p:cNvSpPr/>
            <p:nvPr/>
          </p:nvSpPr>
          <p:spPr>
            <a:xfrm>
              <a:off x="0" y="0"/>
              <a:ext cx="2280949" cy="1666755"/>
            </a:xfrm>
            <a:custGeom>
              <a:avLst/>
              <a:gdLst/>
              <a:ahLst/>
              <a:cxnLst/>
              <a:rect l="l" t="t" r="r" b="b"/>
              <a:pathLst>
                <a:path w="2280949" h="1666755">
                  <a:moveTo>
                    <a:pt x="0" y="0"/>
                  </a:moveTo>
                  <a:lnTo>
                    <a:pt x="2280949" y="0"/>
                  </a:lnTo>
                  <a:lnTo>
                    <a:pt x="2280949" y="1666755"/>
                  </a:lnTo>
                  <a:lnTo>
                    <a:pt x="0" y="16667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8">
              <a:extLst>
                <a:ext uri="{FF2B5EF4-FFF2-40B4-BE49-F238E27FC236}">
                  <a16:creationId xmlns:a16="http://schemas.microsoft.com/office/drawing/2014/main" id="{3DEF7109-1AE5-411D-CCCD-DC87D95602C9}"/>
                </a:ext>
              </a:extLst>
            </p:cNvPr>
            <p:cNvSpPr txBox="1"/>
            <p:nvPr/>
          </p:nvSpPr>
          <p:spPr>
            <a:xfrm>
              <a:off x="0" y="-38100"/>
              <a:ext cx="2280949" cy="1704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8" name="Group 11">
            <a:extLst>
              <a:ext uri="{FF2B5EF4-FFF2-40B4-BE49-F238E27FC236}">
                <a16:creationId xmlns:a16="http://schemas.microsoft.com/office/drawing/2014/main" id="{D053C05F-5037-0204-DE6B-D0B4E3671A02}"/>
              </a:ext>
            </a:extLst>
          </p:cNvPr>
          <p:cNvGrpSpPr/>
          <p:nvPr/>
        </p:nvGrpSpPr>
        <p:grpSpPr>
          <a:xfrm>
            <a:off x="11736452" y="2918161"/>
            <a:ext cx="5520651" cy="1848366"/>
            <a:chOff x="0" y="0"/>
            <a:chExt cx="1453999" cy="486813"/>
          </a:xfrm>
        </p:grpSpPr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E4E02F42-CF62-D8DA-9B93-7661E00B01A7}"/>
                </a:ext>
              </a:extLst>
            </p:cNvPr>
            <p:cNvSpPr/>
            <p:nvPr/>
          </p:nvSpPr>
          <p:spPr>
            <a:xfrm>
              <a:off x="0" y="0"/>
              <a:ext cx="1453998" cy="486812"/>
            </a:xfrm>
            <a:custGeom>
              <a:avLst/>
              <a:gdLst/>
              <a:ahLst/>
              <a:cxnLst/>
              <a:rect l="l" t="t" r="r" b="b"/>
              <a:pathLst>
                <a:path w="1453998" h="486812">
                  <a:moveTo>
                    <a:pt x="23840" y="0"/>
                  </a:moveTo>
                  <a:lnTo>
                    <a:pt x="1430158" y="0"/>
                  </a:lnTo>
                  <a:cubicBezTo>
                    <a:pt x="1436481" y="0"/>
                    <a:pt x="1442545" y="2512"/>
                    <a:pt x="1447016" y="6983"/>
                  </a:cubicBezTo>
                  <a:cubicBezTo>
                    <a:pt x="1451487" y="11453"/>
                    <a:pt x="1453998" y="17517"/>
                    <a:pt x="1453998" y="23840"/>
                  </a:cubicBezTo>
                  <a:lnTo>
                    <a:pt x="1453998" y="462972"/>
                  </a:lnTo>
                  <a:cubicBezTo>
                    <a:pt x="1453998" y="476139"/>
                    <a:pt x="1443325" y="486812"/>
                    <a:pt x="1430158" y="486812"/>
                  </a:cubicBezTo>
                  <a:lnTo>
                    <a:pt x="23840" y="486812"/>
                  </a:lnTo>
                  <a:cubicBezTo>
                    <a:pt x="17517" y="486812"/>
                    <a:pt x="11453" y="484301"/>
                    <a:pt x="6983" y="479830"/>
                  </a:cubicBezTo>
                  <a:cubicBezTo>
                    <a:pt x="2512" y="475359"/>
                    <a:pt x="0" y="469295"/>
                    <a:pt x="0" y="462972"/>
                  </a:cubicBezTo>
                  <a:lnTo>
                    <a:pt x="0" y="23840"/>
                  </a:lnTo>
                  <a:cubicBezTo>
                    <a:pt x="0" y="17517"/>
                    <a:pt x="2512" y="11453"/>
                    <a:pt x="6983" y="6983"/>
                  </a:cubicBezTo>
                  <a:cubicBezTo>
                    <a:pt x="11453" y="2512"/>
                    <a:pt x="17517" y="0"/>
                    <a:pt x="2384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13">
              <a:extLst>
                <a:ext uri="{FF2B5EF4-FFF2-40B4-BE49-F238E27FC236}">
                  <a16:creationId xmlns:a16="http://schemas.microsoft.com/office/drawing/2014/main" id="{A2751B42-9240-EB83-839B-6B69775C33E0}"/>
                </a:ext>
              </a:extLst>
            </p:cNvPr>
            <p:cNvSpPr txBox="1"/>
            <p:nvPr/>
          </p:nvSpPr>
          <p:spPr>
            <a:xfrm>
              <a:off x="0" y="-38100"/>
              <a:ext cx="1453999" cy="524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1" name="TextBox 10">
            <a:extLst>
              <a:ext uri="{FF2B5EF4-FFF2-40B4-BE49-F238E27FC236}">
                <a16:creationId xmlns:a16="http://schemas.microsoft.com/office/drawing/2014/main" id="{5BAB5FF0-6849-6F61-75AC-29FE17D14D63}"/>
              </a:ext>
            </a:extLst>
          </p:cNvPr>
          <p:cNvSpPr txBox="1"/>
          <p:nvPr/>
        </p:nvSpPr>
        <p:spPr>
          <a:xfrm>
            <a:off x="11920047" y="3173075"/>
            <a:ext cx="5173587" cy="1227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spc="-119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APPROCCIO SHAP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it-IT" sz="1999" spc="-7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Interpretazione dei risultati tramite l’approccio SHAP per decifrare il modello Random </a:t>
            </a:r>
            <a:r>
              <a:rPr lang="it-IT" sz="1999" spc="-79" noProof="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Forest</a:t>
            </a:r>
            <a:endParaRPr lang="it-IT" sz="1999" spc="-79" noProof="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9187335-797C-665E-ABB0-07F6A7DFC000}"/>
              </a:ext>
            </a:extLst>
          </p:cNvPr>
          <p:cNvGrpSpPr/>
          <p:nvPr/>
        </p:nvGrpSpPr>
        <p:grpSpPr>
          <a:xfrm>
            <a:off x="6980716" y="9244154"/>
            <a:ext cx="5986207" cy="479269"/>
            <a:chOff x="0" y="0"/>
            <a:chExt cx="1576614" cy="126227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B1E5A33-B3E8-7C08-689A-67388D7E3AB1}"/>
                </a:ext>
              </a:extLst>
            </p:cNvPr>
            <p:cNvSpPr/>
            <p:nvPr/>
          </p:nvSpPr>
          <p:spPr>
            <a:xfrm>
              <a:off x="0" y="0"/>
              <a:ext cx="1576614" cy="126227"/>
            </a:xfrm>
            <a:custGeom>
              <a:avLst/>
              <a:gdLst/>
              <a:ahLst/>
              <a:cxnLst/>
              <a:rect l="l" t="t" r="r" b="b"/>
              <a:pathLst>
                <a:path w="1576614" h="126227">
                  <a:moveTo>
                    <a:pt x="21986" y="0"/>
                  </a:moveTo>
                  <a:lnTo>
                    <a:pt x="1554628" y="0"/>
                  </a:lnTo>
                  <a:cubicBezTo>
                    <a:pt x="1566771" y="0"/>
                    <a:pt x="1576614" y="9843"/>
                    <a:pt x="1576614" y="21986"/>
                  </a:cubicBezTo>
                  <a:lnTo>
                    <a:pt x="1576614" y="104241"/>
                  </a:lnTo>
                  <a:cubicBezTo>
                    <a:pt x="1576614" y="116384"/>
                    <a:pt x="1566771" y="126227"/>
                    <a:pt x="1554628" y="126227"/>
                  </a:cubicBezTo>
                  <a:lnTo>
                    <a:pt x="21986" y="126227"/>
                  </a:lnTo>
                  <a:cubicBezTo>
                    <a:pt x="9843" y="126227"/>
                    <a:pt x="0" y="116384"/>
                    <a:pt x="0" y="104241"/>
                  </a:cubicBezTo>
                  <a:lnTo>
                    <a:pt x="0" y="21986"/>
                  </a:lnTo>
                  <a:cubicBezTo>
                    <a:pt x="0" y="9843"/>
                    <a:pt x="9843" y="0"/>
                    <a:pt x="219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D7D2093-80A6-2F41-CF55-72E10F77EEA2}"/>
                </a:ext>
              </a:extLst>
            </p:cNvPr>
            <p:cNvSpPr txBox="1"/>
            <p:nvPr/>
          </p:nvSpPr>
          <p:spPr>
            <a:xfrm>
              <a:off x="0" y="-38100"/>
              <a:ext cx="1576614" cy="1643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5" name="TextBox 20">
            <a:extLst>
              <a:ext uri="{FF2B5EF4-FFF2-40B4-BE49-F238E27FC236}">
                <a16:creationId xmlns:a16="http://schemas.microsoft.com/office/drawing/2014/main" id="{AA2CAC3B-DC30-B56A-912F-D93F3C08B955}"/>
              </a:ext>
            </a:extLst>
          </p:cNvPr>
          <p:cNvSpPr txBox="1"/>
          <p:nvPr/>
        </p:nvSpPr>
        <p:spPr>
          <a:xfrm>
            <a:off x="7435271" y="9330435"/>
            <a:ext cx="5506938" cy="29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it-IT" sz="1800" spc="-72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 Reddit l’influenza si costruisce con l’argomentazione </a:t>
            </a:r>
          </a:p>
        </p:txBody>
      </p:sp>
      <p:sp>
        <p:nvSpPr>
          <p:cNvPr id="26" name="Freeform 14">
            <a:extLst>
              <a:ext uri="{FF2B5EF4-FFF2-40B4-BE49-F238E27FC236}">
                <a16:creationId xmlns:a16="http://schemas.microsoft.com/office/drawing/2014/main" id="{52793D64-BD39-4215-EE64-38A962807CD5}"/>
              </a:ext>
            </a:extLst>
          </p:cNvPr>
          <p:cNvSpPr/>
          <p:nvPr/>
        </p:nvSpPr>
        <p:spPr>
          <a:xfrm>
            <a:off x="6980716" y="9244154"/>
            <a:ext cx="479269" cy="479269"/>
          </a:xfrm>
          <a:custGeom>
            <a:avLst/>
            <a:gdLst/>
            <a:ahLst/>
            <a:cxnLst/>
            <a:rect l="l" t="t" r="r" b="b"/>
            <a:pathLst>
              <a:path w="479269" h="479269">
                <a:moveTo>
                  <a:pt x="0" y="0"/>
                </a:moveTo>
                <a:lnTo>
                  <a:pt x="479269" y="0"/>
                </a:lnTo>
                <a:lnTo>
                  <a:pt x="479269" y="479269"/>
                </a:lnTo>
                <a:lnTo>
                  <a:pt x="0" y="4792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27" name="Group 3">
            <a:extLst>
              <a:ext uri="{FF2B5EF4-FFF2-40B4-BE49-F238E27FC236}">
                <a16:creationId xmlns:a16="http://schemas.microsoft.com/office/drawing/2014/main" id="{E6C10622-D063-FD8E-1D1F-50C2A437781F}"/>
              </a:ext>
            </a:extLst>
          </p:cNvPr>
          <p:cNvGrpSpPr/>
          <p:nvPr/>
        </p:nvGrpSpPr>
        <p:grpSpPr>
          <a:xfrm>
            <a:off x="11745417" y="5708506"/>
            <a:ext cx="5522848" cy="2636219"/>
            <a:chOff x="0" y="0"/>
            <a:chExt cx="1454577" cy="694313"/>
          </a:xfrm>
        </p:grpSpPr>
        <p:sp>
          <p:nvSpPr>
            <p:cNvPr id="28" name="Freeform 4">
              <a:extLst>
                <a:ext uri="{FF2B5EF4-FFF2-40B4-BE49-F238E27FC236}">
                  <a16:creationId xmlns:a16="http://schemas.microsoft.com/office/drawing/2014/main" id="{BB32123F-E015-1786-B7E7-30BA0DFF8226}"/>
                </a:ext>
              </a:extLst>
            </p:cNvPr>
            <p:cNvSpPr/>
            <p:nvPr/>
          </p:nvSpPr>
          <p:spPr>
            <a:xfrm>
              <a:off x="0" y="0"/>
              <a:ext cx="1454577" cy="694313"/>
            </a:xfrm>
            <a:custGeom>
              <a:avLst/>
              <a:gdLst/>
              <a:ahLst/>
              <a:cxnLst/>
              <a:rect l="l" t="t" r="r" b="b"/>
              <a:pathLst>
                <a:path w="1454577" h="694313">
                  <a:moveTo>
                    <a:pt x="23831" y="0"/>
                  </a:moveTo>
                  <a:lnTo>
                    <a:pt x="1430747" y="0"/>
                  </a:lnTo>
                  <a:cubicBezTo>
                    <a:pt x="1443908" y="0"/>
                    <a:pt x="1454577" y="10669"/>
                    <a:pt x="1454577" y="23831"/>
                  </a:cubicBezTo>
                  <a:lnTo>
                    <a:pt x="1454577" y="670482"/>
                  </a:lnTo>
                  <a:cubicBezTo>
                    <a:pt x="1454577" y="683643"/>
                    <a:pt x="1443908" y="694313"/>
                    <a:pt x="1430747" y="694313"/>
                  </a:cubicBezTo>
                  <a:lnTo>
                    <a:pt x="23831" y="694313"/>
                  </a:lnTo>
                  <a:cubicBezTo>
                    <a:pt x="10669" y="694313"/>
                    <a:pt x="0" y="683643"/>
                    <a:pt x="0" y="670482"/>
                  </a:cubicBezTo>
                  <a:lnTo>
                    <a:pt x="0" y="23831"/>
                  </a:lnTo>
                  <a:cubicBezTo>
                    <a:pt x="0" y="10669"/>
                    <a:pt x="10669" y="0"/>
                    <a:pt x="238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29" name="TextBox 5">
              <a:extLst>
                <a:ext uri="{FF2B5EF4-FFF2-40B4-BE49-F238E27FC236}">
                  <a16:creationId xmlns:a16="http://schemas.microsoft.com/office/drawing/2014/main" id="{CBAA4249-3AE5-F514-C509-0BC72EAF274F}"/>
                </a:ext>
              </a:extLst>
            </p:cNvPr>
            <p:cNvSpPr txBox="1"/>
            <p:nvPr/>
          </p:nvSpPr>
          <p:spPr>
            <a:xfrm>
              <a:off x="0" y="-38100"/>
              <a:ext cx="1454577" cy="732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1" name="Freeform 7">
            <a:extLst>
              <a:ext uri="{FF2B5EF4-FFF2-40B4-BE49-F238E27FC236}">
                <a16:creationId xmlns:a16="http://schemas.microsoft.com/office/drawing/2014/main" id="{16B701E9-6A33-5FB2-330B-89EAB4F8E831}"/>
              </a:ext>
            </a:extLst>
          </p:cNvPr>
          <p:cNvSpPr/>
          <p:nvPr/>
        </p:nvSpPr>
        <p:spPr>
          <a:xfrm>
            <a:off x="11892994" y="6637376"/>
            <a:ext cx="389833" cy="389833"/>
          </a:xfrm>
          <a:custGeom>
            <a:avLst/>
            <a:gdLst/>
            <a:ahLst/>
            <a:cxnLst/>
            <a:rect l="l" t="t" r="r" b="b"/>
            <a:pathLst>
              <a:path w="389833" h="389833">
                <a:moveTo>
                  <a:pt x="0" y="0"/>
                </a:moveTo>
                <a:lnTo>
                  <a:pt x="389833" y="0"/>
                </a:lnTo>
                <a:lnTo>
                  <a:pt x="389833" y="389833"/>
                </a:lnTo>
                <a:lnTo>
                  <a:pt x="0" y="389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2" name="Freeform 9">
            <a:extLst>
              <a:ext uri="{FF2B5EF4-FFF2-40B4-BE49-F238E27FC236}">
                <a16:creationId xmlns:a16="http://schemas.microsoft.com/office/drawing/2014/main" id="{34FFE598-F57A-9DE1-55D1-2F5A12BC1CDA}"/>
              </a:ext>
            </a:extLst>
          </p:cNvPr>
          <p:cNvSpPr/>
          <p:nvPr/>
        </p:nvSpPr>
        <p:spPr>
          <a:xfrm>
            <a:off x="11892994" y="7179609"/>
            <a:ext cx="389833" cy="389833"/>
          </a:xfrm>
          <a:custGeom>
            <a:avLst/>
            <a:gdLst/>
            <a:ahLst/>
            <a:cxnLst/>
            <a:rect l="l" t="t" r="r" b="b"/>
            <a:pathLst>
              <a:path w="389833" h="389833">
                <a:moveTo>
                  <a:pt x="0" y="0"/>
                </a:moveTo>
                <a:lnTo>
                  <a:pt x="389833" y="0"/>
                </a:lnTo>
                <a:lnTo>
                  <a:pt x="389833" y="389833"/>
                </a:lnTo>
                <a:lnTo>
                  <a:pt x="0" y="3898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36F8793D-D2BC-B5D8-8215-0AB58F8050DB}"/>
              </a:ext>
            </a:extLst>
          </p:cNvPr>
          <p:cNvSpPr/>
          <p:nvPr/>
        </p:nvSpPr>
        <p:spPr>
          <a:xfrm>
            <a:off x="11890797" y="7767677"/>
            <a:ext cx="389833" cy="389833"/>
          </a:xfrm>
          <a:custGeom>
            <a:avLst/>
            <a:gdLst/>
            <a:ahLst/>
            <a:cxnLst/>
            <a:rect l="l" t="t" r="r" b="b"/>
            <a:pathLst>
              <a:path w="389833" h="389833">
                <a:moveTo>
                  <a:pt x="0" y="0"/>
                </a:moveTo>
                <a:lnTo>
                  <a:pt x="389833" y="0"/>
                </a:lnTo>
                <a:lnTo>
                  <a:pt x="389833" y="389833"/>
                </a:lnTo>
                <a:lnTo>
                  <a:pt x="0" y="3898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3779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1CDDA-610B-4F23-D2AB-90004D63A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8A55C06-43B3-3ECF-528A-3754C502A716}"/>
              </a:ext>
            </a:extLst>
          </p:cNvPr>
          <p:cNvSpPr/>
          <p:nvPr/>
        </p:nvSpPr>
        <p:spPr>
          <a:xfrm>
            <a:off x="2826915" y="1600050"/>
            <a:ext cx="1263417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36E07B8E-15A0-63C2-2898-B966C6FF252D}"/>
              </a:ext>
            </a:extLst>
          </p:cNvPr>
          <p:cNvSpPr txBox="1"/>
          <p:nvPr/>
        </p:nvSpPr>
        <p:spPr>
          <a:xfrm>
            <a:off x="2781263" y="243463"/>
            <a:ext cx="12725474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it-IT" sz="6999" spc="244" noProof="0" dirty="0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Direzioni per una ricerca futura</a:t>
            </a:r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B651FD30-C200-0B3C-8449-969B37DD6E56}"/>
              </a:ext>
            </a:extLst>
          </p:cNvPr>
          <p:cNvSpPr/>
          <p:nvPr/>
        </p:nvSpPr>
        <p:spPr>
          <a:xfrm rot="-9462444">
            <a:off x="8764952" y="3524837"/>
            <a:ext cx="1152723" cy="1152723"/>
          </a:xfrm>
          <a:custGeom>
            <a:avLst/>
            <a:gdLst/>
            <a:ahLst/>
            <a:cxnLst/>
            <a:rect l="l" t="t" r="r" b="b"/>
            <a:pathLst>
              <a:path w="1152723" h="1152723">
                <a:moveTo>
                  <a:pt x="0" y="0"/>
                </a:moveTo>
                <a:lnTo>
                  <a:pt x="1152722" y="0"/>
                </a:lnTo>
                <a:lnTo>
                  <a:pt x="1152722" y="1152723"/>
                </a:lnTo>
                <a:lnTo>
                  <a:pt x="0" y="1152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5" name="Group 7">
            <a:extLst>
              <a:ext uri="{FF2B5EF4-FFF2-40B4-BE49-F238E27FC236}">
                <a16:creationId xmlns:a16="http://schemas.microsoft.com/office/drawing/2014/main" id="{107283BE-F785-A0F6-A995-ECD523EF4C36}"/>
              </a:ext>
            </a:extLst>
          </p:cNvPr>
          <p:cNvGrpSpPr/>
          <p:nvPr/>
        </p:nvGrpSpPr>
        <p:grpSpPr>
          <a:xfrm>
            <a:off x="812607" y="4245859"/>
            <a:ext cx="7569446" cy="2452859"/>
            <a:chOff x="0" y="0"/>
            <a:chExt cx="1993599" cy="646020"/>
          </a:xfrm>
        </p:grpSpPr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41E07AE9-5306-9580-2CFB-D8B6612B1F90}"/>
                </a:ext>
              </a:extLst>
            </p:cNvPr>
            <p:cNvSpPr/>
            <p:nvPr/>
          </p:nvSpPr>
          <p:spPr>
            <a:xfrm>
              <a:off x="0" y="0"/>
              <a:ext cx="1993599" cy="646020"/>
            </a:xfrm>
            <a:custGeom>
              <a:avLst/>
              <a:gdLst/>
              <a:ahLst/>
              <a:cxnLst/>
              <a:rect l="l" t="t" r="r" b="b"/>
              <a:pathLst>
                <a:path w="1993599" h="646020">
                  <a:moveTo>
                    <a:pt x="17387" y="0"/>
                  </a:moveTo>
                  <a:lnTo>
                    <a:pt x="1976212" y="0"/>
                  </a:lnTo>
                  <a:cubicBezTo>
                    <a:pt x="1980823" y="0"/>
                    <a:pt x="1985246" y="1832"/>
                    <a:pt x="1988506" y="5093"/>
                  </a:cubicBezTo>
                  <a:cubicBezTo>
                    <a:pt x="1991767" y="8353"/>
                    <a:pt x="1993599" y="12776"/>
                    <a:pt x="1993599" y="17387"/>
                  </a:cubicBezTo>
                  <a:lnTo>
                    <a:pt x="1993599" y="628633"/>
                  </a:lnTo>
                  <a:cubicBezTo>
                    <a:pt x="1993599" y="633245"/>
                    <a:pt x="1991767" y="637667"/>
                    <a:pt x="1988506" y="640928"/>
                  </a:cubicBezTo>
                  <a:cubicBezTo>
                    <a:pt x="1985246" y="644189"/>
                    <a:pt x="1980823" y="646020"/>
                    <a:pt x="1976212" y="646020"/>
                  </a:cubicBezTo>
                  <a:lnTo>
                    <a:pt x="17387" y="646020"/>
                  </a:lnTo>
                  <a:cubicBezTo>
                    <a:pt x="12776" y="646020"/>
                    <a:pt x="8353" y="644189"/>
                    <a:pt x="5093" y="640928"/>
                  </a:cubicBezTo>
                  <a:cubicBezTo>
                    <a:pt x="1832" y="637667"/>
                    <a:pt x="0" y="633245"/>
                    <a:pt x="0" y="628633"/>
                  </a:cubicBezTo>
                  <a:lnTo>
                    <a:pt x="0" y="17387"/>
                  </a:lnTo>
                  <a:cubicBezTo>
                    <a:pt x="0" y="12776"/>
                    <a:pt x="1832" y="8353"/>
                    <a:pt x="5093" y="5093"/>
                  </a:cubicBezTo>
                  <a:cubicBezTo>
                    <a:pt x="8353" y="1832"/>
                    <a:pt x="12776" y="0"/>
                    <a:pt x="173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9">
              <a:extLst>
                <a:ext uri="{FF2B5EF4-FFF2-40B4-BE49-F238E27FC236}">
                  <a16:creationId xmlns:a16="http://schemas.microsoft.com/office/drawing/2014/main" id="{237BA8B7-5ABB-0596-5710-4542A05FBD53}"/>
                </a:ext>
              </a:extLst>
            </p:cNvPr>
            <p:cNvSpPr txBox="1"/>
            <p:nvPr/>
          </p:nvSpPr>
          <p:spPr>
            <a:xfrm>
              <a:off x="0" y="-38100"/>
              <a:ext cx="1993599" cy="684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TextBox 5">
            <a:extLst>
              <a:ext uri="{FF2B5EF4-FFF2-40B4-BE49-F238E27FC236}">
                <a16:creationId xmlns:a16="http://schemas.microsoft.com/office/drawing/2014/main" id="{34FC3416-97C7-169F-85FA-FCFFF554E7D7}"/>
              </a:ext>
            </a:extLst>
          </p:cNvPr>
          <p:cNvSpPr txBox="1"/>
          <p:nvPr/>
        </p:nvSpPr>
        <p:spPr>
          <a:xfrm>
            <a:off x="1028700" y="4457064"/>
            <a:ext cx="7011728" cy="2088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1" spc="-147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LIMITI DELLA RICERCA: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it-IT" sz="2699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Limiti legati al campione, dati raccolti solo da un singolo </a:t>
            </a:r>
            <a:r>
              <a:rPr lang="it-IT" sz="2699" spc="-107" noProof="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subreddit</a:t>
            </a:r>
            <a:r>
              <a:rPr lang="it-IT" sz="2699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it-IT" sz="2699" spc="-107" noProof="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it-IT" sz="2699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lang="it-IT" sz="2699" spc="-107" noProof="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Futurology</a:t>
            </a:r>
            <a:r>
              <a:rPr lang="it-IT" sz="2699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), con </a:t>
            </a:r>
            <a:r>
              <a:rPr lang="it-IT" sz="2699" spc="-107" noProof="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bias</a:t>
            </a:r>
            <a:r>
              <a:rPr lang="it-IT" sz="2699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demografico. </a:t>
            </a:r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4E8C6C08-596F-D9F7-E324-337A41519FF3}"/>
              </a:ext>
            </a:extLst>
          </p:cNvPr>
          <p:cNvSpPr/>
          <p:nvPr/>
        </p:nvSpPr>
        <p:spPr>
          <a:xfrm>
            <a:off x="1236042" y="4533264"/>
            <a:ext cx="567472" cy="567472"/>
          </a:xfrm>
          <a:custGeom>
            <a:avLst/>
            <a:gdLst/>
            <a:ahLst/>
            <a:cxnLst/>
            <a:rect l="l" t="t" r="r" b="b"/>
            <a:pathLst>
              <a:path w="567472" h="567472">
                <a:moveTo>
                  <a:pt x="0" y="0"/>
                </a:moveTo>
                <a:lnTo>
                  <a:pt x="567473" y="0"/>
                </a:lnTo>
                <a:lnTo>
                  <a:pt x="567473" y="567473"/>
                </a:lnTo>
                <a:lnTo>
                  <a:pt x="0" y="5674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9632136-030C-A21F-C1D7-E6E80D9FFDE1}"/>
              </a:ext>
            </a:extLst>
          </p:cNvPr>
          <p:cNvGrpSpPr/>
          <p:nvPr/>
        </p:nvGrpSpPr>
        <p:grpSpPr>
          <a:xfrm>
            <a:off x="9966209" y="4245859"/>
            <a:ext cx="7569446" cy="2452859"/>
            <a:chOff x="0" y="0"/>
            <a:chExt cx="1993599" cy="64602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67A8A3D-3D0F-7C22-F103-3CDAFD0F8E3F}"/>
                </a:ext>
              </a:extLst>
            </p:cNvPr>
            <p:cNvSpPr/>
            <p:nvPr/>
          </p:nvSpPr>
          <p:spPr>
            <a:xfrm>
              <a:off x="0" y="0"/>
              <a:ext cx="1993599" cy="646020"/>
            </a:xfrm>
            <a:custGeom>
              <a:avLst/>
              <a:gdLst/>
              <a:ahLst/>
              <a:cxnLst/>
              <a:rect l="l" t="t" r="r" b="b"/>
              <a:pathLst>
                <a:path w="1993599" h="646020">
                  <a:moveTo>
                    <a:pt x="17387" y="0"/>
                  </a:moveTo>
                  <a:lnTo>
                    <a:pt x="1976212" y="0"/>
                  </a:lnTo>
                  <a:cubicBezTo>
                    <a:pt x="1980823" y="0"/>
                    <a:pt x="1985246" y="1832"/>
                    <a:pt x="1988506" y="5093"/>
                  </a:cubicBezTo>
                  <a:cubicBezTo>
                    <a:pt x="1991767" y="8353"/>
                    <a:pt x="1993599" y="12776"/>
                    <a:pt x="1993599" y="17387"/>
                  </a:cubicBezTo>
                  <a:lnTo>
                    <a:pt x="1993599" y="628633"/>
                  </a:lnTo>
                  <a:cubicBezTo>
                    <a:pt x="1993599" y="633245"/>
                    <a:pt x="1991767" y="637667"/>
                    <a:pt x="1988506" y="640928"/>
                  </a:cubicBezTo>
                  <a:cubicBezTo>
                    <a:pt x="1985246" y="644189"/>
                    <a:pt x="1980823" y="646020"/>
                    <a:pt x="1976212" y="646020"/>
                  </a:cubicBezTo>
                  <a:lnTo>
                    <a:pt x="17387" y="646020"/>
                  </a:lnTo>
                  <a:cubicBezTo>
                    <a:pt x="12776" y="646020"/>
                    <a:pt x="8353" y="644189"/>
                    <a:pt x="5093" y="640928"/>
                  </a:cubicBezTo>
                  <a:cubicBezTo>
                    <a:pt x="1832" y="637667"/>
                    <a:pt x="0" y="633245"/>
                    <a:pt x="0" y="628633"/>
                  </a:cubicBezTo>
                  <a:lnTo>
                    <a:pt x="0" y="17387"/>
                  </a:lnTo>
                  <a:cubicBezTo>
                    <a:pt x="0" y="12776"/>
                    <a:pt x="1832" y="8353"/>
                    <a:pt x="5093" y="5093"/>
                  </a:cubicBezTo>
                  <a:cubicBezTo>
                    <a:pt x="8353" y="1832"/>
                    <a:pt x="12776" y="0"/>
                    <a:pt x="173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TextBox 12">
              <a:extLst>
                <a:ext uri="{FF2B5EF4-FFF2-40B4-BE49-F238E27FC236}">
                  <a16:creationId xmlns:a16="http://schemas.microsoft.com/office/drawing/2014/main" id="{333A2ED4-F77E-C7ED-022B-F5999363D177}"/>
                </a:ext>
              </a:extLst>
            </p:cNvPr>
            <p:cNvSpPr txBox="1"/>
            <p:nvPr/>
          </p:nvSpPr>
          <p:spPr>
            <a:xfrm>
              <a:off x="0" y="-38100"/>
              <a:ext cx="1993599" cy="684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5" name="TextBox 6">
            <a:extLst>
              <a:ext uri="{FF2B5EF4-FFF2-40B4-BE49-F238E27FC236}">
                <a16:creationId xmlns:a16="http://schemas.microsoft.com/office/drawing/2014/main" id="{B2F71348-19D8-8A49-68ED-3864A7394CAB}"/>
              </a:ext>
            </a:extLst>
          </p:cNvPr>
          <p:cNvSpPr txBox="1"/>
          <p:nvPr/>
        </p:nvSpPr>
        <p:spPr>
          <a:xfrm>
            <a:off x="10236469" y="4400511"/>
            <a:ext cx="7016735" cy="2088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b="1" spc="-147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DIREZIONI FUTURE: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it-IT" sz="2699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Soluzione legata al campione, ampliare il dataset includendo più </a:t>
            </a:r>
            <a:r>
              <a:rPr lang="it-IT" sz="2699" spc="-107" noProof="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subreddit</a:t>
            </a:r>
            <a:r>
              <a:rPr lang="it-IT" sz="2699" spc="-107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 altri social network per aumentare la rappresentatività.</a:t>
            </a:r>
          </a:p>
        </p:txBody>
      </p:sp>
      <p:sp>
        <p:nvSpPr>
          <p:cNvPr id="36" name="Freeform 4">
            <a:extLst>
              <a:ext uri="{FF2B5EF4-FFF2-40B4-BE49-F238E27FC236}">
                <a16:creationId xmlns:a16="http://schemas.microsoft.com/office/drawing/2014/main" id="{FF8D5396-A0CC-98E3-F241-9AF03A6C05BF}"/>
              </a:ext>
            </a:extLst>
          </p:cNvPr>
          <p:cNvSpPr/>
          <p:nvPr/>
        </p:nvSpPr>
        <p:spPr>
          <a:xfrm>
            <a:off x="10933056" y="4400511"/>
            <a:ext cx="567472" cy="567472"/>
          </a:xfrm>
          <a:custGeom>
            <a:avLst/>
            <a:gdLst/>
            <a:ahLst/>
            <a:cxnLst/>
            <a:rect l="l" t="t" r="r" b="b"/>
            <a:pathLst>
              <a:path w="567472" h="567472">
                <a:moveTo>
                  <a:pt x="0" y="0"/>
                </a:moveTo>
                <a:lnTo>
                  <a:pt x="567473" y="0"/>
                </a:lnTo>
                <a:lnTo>
                  <a:pt x="567473" y="567473"/>
                </a:lnTo>
                <a:lnTo>
                  <a:pt x="0" y="567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6849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4F8D5-E77A-DD46-D9E0-BBEC12E0E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D74813E-0504-0F7A-6494-A315B77FA01D}"/>
              </a:ext>
            </a:extLst>
          </p:cNvPr>
          <p:cNvSpPr/>
          <p:nvPr/>
        </p:nvSpPr>
        <p:spPr>
          <a:xfrm>
            <a:off x="2826915" y="1600050"/>
            <a:ext cx="1263417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C7287483-22D4-82F8-3CB4-A7F1447DB5A9}"/>
              </a:ext>
            </a:extLst>
          </p:cNvPr>
          <p:cNvSpPr txBox="1"/>
          <p:nvPr/>
        </p:nvSpPr>
        <p:spPr>
          <a:xfrm>
            <a:off x="1919548" y="243463"/>
            <a:ext cx="14448904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it-IT" sz="6999" spc="244" noProof="0" dirty="0">
                <a:solidFill>
                  <a:srgbClr val="000000"/>
                </a:solidFill>
                <a:latin typeface="Fry's Baskerville"/>
                <a:ea typeface="Fry's Baskerville"/>
                <a:cs typeface="Fry's Baskerville"/>
                <a:sym typeface="Fry's Baskerville"/>
              </a:rPr>
              <a:t>Implicazioni e considerazioni finali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A78DD0-9450-980D-C81A-F3673503BC51}"/>
              </a:ext>
            </a:extLst>
          </p:cNvPr>
          <p:cNvGrpSpPr/>
          <p:nvPr/>
        </p:nvGrpSpPr>
        <p:grpSpPr>
          <a:xfrm>
            <a:off x="1762507" y="2337548"/>
            <a:ext cx="8106875" cy="6410969"/>
            <a:chOff x="0" y="0"/>
            <a:chExt cx="2135144" cy="1688486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18A593D-CA91-4841-7E6A-FA4279548E80}"/>
                </a:ext>
              </a:extLst>
            </p:cNvPr>
            <p:cNvSpPr/>
            <p:nvPr/>
          </p:nvSpPr>
          <p:spPr>
            <a:xfrm>
              <a:off x="0" y="0"/>
              <a:ext cx="2135144" cy="1688486"/>
            </a:xfrm>
            <a:custGeom>
              <a:avLst/>
              <a:gdLst/>
              <a:ahLst/>
              <a:cxnLst/>
              <a:rect l="l" t="t" r="r" b="b"/>
              <a:pathLst>
                <a:path w="2135144" h="1688486">
                  <a:moveTo>
                    <a:pt x="16235" y="0"/>
                  </a:moveTo>
                  <a:lnTo>
                    <a:pt x="2118909" y="0"/>
                  </a:lnTo>
                  <a:cubicBezTo>
                    <a:pt x="2127876" y="0"/>
                    <a:pt x="2135144" y="7269"/>
                    <a:pt x="2135144" y="16235"/>
                  </a:cubicBezTo>
                  <a:lnTo>
                    <a:pt x="2135144" y="1672251"/>
                  </a:lnTo>
                  <a:cubicBezTo>
                    <a:pt x="2135144" y="1676557"/>
                    <a:pt x="2133434" y="1680686"/>
                    <a:pt x="2130389" y="1683731"/>
                  </a:cubicBezTo>
                  <a:cubicBezTo>
                    <a:pt x="2127345" y="1686775"/>
                    <a:pt x="2123215" y="1688486"/>
                    <a:pt x="2118909" y="1688486"/>
                  </a:cubicBezTo>
                  <a:lnTo>
                    <a:pt x="16235" y="1688486"/>
                  </a:lnTo>
                  <a:cubicBezTo>
                    <a:pt x="7269" y="1688486"/>
                    <a:pt x="0" y="1681217"/>
                    <a:pt x="0" y="1672251"/>
                  </a:cubicBezTo>
                  <a:lnTo>
                    <a:pt x="0" y="16235"/>
                  </a:lnTo>
                  <a:cubicBezTo>
                    <a:pt x="0" y="11929"/>
                    <a:pt x="1710" y="7800"/>
                    <a:pt x="4755" y="4755"/>
                  </a:cubicBezTo>
                  <a:cubicBezTo>
                    <a:pt x="7800" y="1710"/>
                    <a:pt x="11929" y="0"/>
                    <a:pt x="1623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2B3D563-30C2-9853-D7F4-A56D79B3ED41}"/>
                </a:ext>
              </a:extLst>
            </p:cNvPr>
            <p:cNvSpPr txBox="1"/>
            <p:nvPr/>
          </p:nvSpPr>
          <p:spPr>
            <a:xfrm>
              <a:off x="0" y="-38100"/>
              <a:ext cx="2135144" cy="1726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" name="TextBox 15">
            <a:extLst>
              <a:ext uri="{FF2B5EF4-FFF2-40B4-BE49-F238E27FC236}">
                <a16:creationId xmlns:a16="http://schemas.microsoft.com/office/drawing/2014/main" id="{B662D4F6-8B0B-600E-4A88-9D6B72FA639E}"/>
              </a:ext>
            </a:extLst>
          </p:cNvPr>
          <p:cNvSpPr txBox="1"/>
          <p:nvPr/>
        </p:nvSpPr>
        <p:spPr>
          <a:xfrm>
            <a:off x="2471935" y="2775348"/>
            <a:ext cx="7150708" cy="588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it-IT" sz="3499" b="1" spc="-139" noProof="0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IMPLICAZIONI PRINCIPALI</a:t>
            </a:r>
          </a:p>
          <a:p>
            <a:pPr algn="just">
              <a:lnSpc>
                <a:spcPts val="3499"/>
              </a:lnSpc>
            </a:pPr>
            <a:r>
              <a:rPr lang="it-IT" sz="2499" spc="-9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Il dibattito pubblico sull’IA non è una semplice contrapposizione tra ottimisti e pessimisti, ma una realtà più articolata</a:t>
            </a:r>
          </a:p>
          <a:p>
            <a:pPr algn="just">
              <a:lnSpc>
                <a:spcPts val="2100"/>
              </a:lnSpc>
            </a:pPr>
            <a:endParaRPr lang="it-IT" sz="2499" spc="-99" noProof="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3499"/>
              </a:lnSpc>
            </a:pPr>
            <a:r>
              <a:rPr lang="it-IT" sz="2499" spc="-9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Rassicurazioni sulla sicurezza tecnica, da sole, non sembrano bastare</a:t>
            </a:r>
          </a:p>
          <a:p>
            <a:pPr algn="just">
              <a:lnSpc>
                <a:spcPts val="2100"/>
              </a:lnSpc>
            </a:pPr>
            <a:endParaRPr lang="it-IT" sz="2499" spc="-99" noProof="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3499"/>
              </a:lnSpc>
            </a:pPr>
            <a:r>
              <a:rPr lang="it-IT" sz="2499" spc="-9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È necessario rispondere alle ansie legate al mondo del lavoro</a:t>
            </a:r>
          </a:p>
          <a:p>
            <a:pPr algn="just">
              <a:lnSpc>
                <a:spcPts val="2100"/>
              </a:lnSpc>
            </a:pPr>
            <a:endParaRPr lang="it-IT" sz="2499" spc="-99" noProof="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it-IT" sz="2499" spc="-9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ricerca dimostra l’efficacia di metodologie come NLP e XAI per comprendere fenomeni sociali complessi</a:t>
            </a: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4B78AFFC-3956-2852-D4DC-D4DD3406B99D}"/>
              </a:ext>
            </a:extLst>
          </p:cNvPr>
          <p:cNvSpPr/>
          <p:nvPr/>
        </p:nvSpPr>
        <p:spPr>
          <a:xfrm>
            <a:off x="1919548" y="3386789"/>
            <a:ext cx="478642" cy="478642"/>
          </a:xfrm>
          <a:custGeom>
            <a:avLst/>
            <a:gdLst/>
            <a:ahLst/>
            <a:cxnLst/>
            <a:rect l="l" t="t" r="r" b="b"/>
            <a:pathLst>
              <a:path w="478642" h="478642">
                <a:moveTo>
                  <a:pt x="0" y="0"/>
                </a:moveTo>
                <a:lnTo>
                  <a:pt x="478642" y="0"/>
                </a:lnTo>
                <a:lnTo>
                  <a:pt x="478642" y="478642"/>
                </a:lnTo>
                <a:lnTo>
                  <a:pt x="0" y="478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2DA67DF9-C953-9D34-BBFC-D1E6FC4AB5D5}"/>
              </a:ext>
            </a:extLst>
          </p:cNvPr>
          <p:cNvSpPr/>
          <p:nvPr/>
        </p:nvSpPr>
        <p:spPr>
          <a:xfrm>
            <a:off x="1919548" y="4940921"/>
            <a:ext cx="478642" cy="478642"/>
          </a:xfrm>
          <a:custGeom>
            <a:avLst/>
            <a:gdLst/>
            <a:ahLst/>
            <a:cxnLst/>
            <a:rect l="l" t="t" r="r" b="b"/>
            <a:pathLst>
              <a:path w="478642" h="478642">
                <a:moveTo>
                  <a:pt x="0" y="0"/>
                </a:moveTo>
                <a:lnTo>
                  <a:pt x="478642" y="0"/>
                </a:lnTo>
                <a:lnTo>
                  <a:pt x="478642" y="478642"/>
                </a:lnTo>
                <a:lnTo>
                  <a:pt x="0" y="478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88BC7986-0F0F-BDF3-D086-F261C8455A5D}"/>
              </a:ext>
            </a:extLst>
          </p:cNvPr>
          <p:cNvSpPr/>
          <p:nvPr/>
        </p:nvSpPr>
        <p:spPr>
          <a:xfrm>
            <a:off x="1919548" y="6105363"/>
            <a:ext cx="478642" cy="478642"/>
          </a:xfrm>
          <a:custGeom>
            <a:avLst/>
            <a:gdLst/>
            <a:ahLst/>
            <a:cxnLst/>
            <a:rect l="l" t="t" r="r" b="b"/>
            <a:pathLst>
              <a:path w="478642" h="478642">
                <a:moveTo>
                  <a:pt x="0" y="0"/>
                </a:moveTo>
                <a:lnTo>
                  <a:pt x="478642" y="0"/>
                </a:lnTo>
                <a:lnTo>
                  <a:pt x="478642" y="478642"/>
                </a:lnTo>
                <a:lnTo>
                  <a:pt x="0" y="478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0715C6A2-6149-0BCA-62C4-104D6CFD15FE}"/>
              </a:ext>
            </a:extLst>
          </p:cNvPr>
          <p:cNvSpPr/>
          <p:nvPr/>
        </p:nvSpPr>
        <p:spPr>
          <a:xfrm>
            <a:off x="1919548" y="7269805"/>
            <a:ext cx="478642" cy="478642"/>
          </a:xfrm>
          <a:custGeom>
            <a:avLst/>
            <a:gdLst/>
            <a:ahLst/>
            <a:cxnLst/>
            <a:rect l="l" t="t" r="r" b="b"/>
            <a:pathLst>
              <a:path w="478642" h="478642">
                <a:moveTo>
                  <a:pt x="0" y="0"/>
                </a:moveTo>
                <a:lnTo>
                  <a:pt x="478642" y="0"/>
                </a:lnTo>
                <a:lnTo>
                  <a:pt x="478642" y="478643"/>
                </a:lnTo>
                <a:lnTo>
                  <a:pt x="0" y="47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4" name="Freeform 10">
            <a:extLst>
              <a:ext uri="{FF2B5EF4-FFF2-40B4-BE49-F238E27FC236}">
                <a16:creationId xmlns:a16="http://schemas.microsoft.com/office/drawing/2014/main" id="{6295173D-E6E4-48FA-9E62-F962B4A1631C}"/>
              </a:ext>
            </a:extLst>
          </p:cNvPr>
          <p:cNvSpPr/>
          <p:nvPr/>
        </p:nvSpPr>
        <p:spPr>
          <a:xfrm>
            <a:off x="2591986" y="2673217"/>
            <a:ext cx="713572" cy="713572"/>
          </a:xfrm>
          <a:custGeom>
            <a:avLst/>
            <a:gdLst/>
            <a:ahLst/>
            <a:cxnLst/>
            <a:rect l="l" t="t" r="r" b="b"/>
            <a:pathLst>
              <a:path w="713572" h="713572">
                <a:moveTo>
                  <a:pt x="0" y="0"/>
                </a:moveTo>
                <a:lnTo>
                  <a:pt x="713571" y="0"/>
                </a:lnTo>
                <a:lnTo>
                  <a:pt x="713571" y="713572"/>
                </a:lnTo>
                <a:lnTo>
                  <a:pt x="0" y="713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5" name="Group 21">
            <a:extLst>
              <a:ext uri="{FF2B5EF4-FFF2-40B4-BE49-F238E27FC236}">
                <a16:creationId xmlns:a16="http://schemas.microsoft.com/office/drawing/2014/main" id="{AB76C948-8076-8159-B360-075C1D693A37}"/>
              </a:ext>
            </a:extLst>
          </p:cNvPr>
          <p:cNvGrpSpPr/>
          <p:nvPr/>
        </p:nvGrpSpPr>
        <p:grpSpPr>
          <a:xfrm>
            <a:off x="10513613" y="3166671"/>
            <a:ext cx="6745687" cy="5075231"/>
            <a:chOff x="0" y="0"/>
            <a:chExt cx="1776642" cy="1336686"/>
          </a:xfrm>
        </p:grpSpPr>
        <p:sp>
          <p:nvSpPr>
            <p:cNvPr id="36" name="Freeform 22">
              <a:extLst>
                <a:ext uri="{FF2B5EF4-FFF2-40B4-BE49-F238E27FC236}">
                  <a16:creationId xmlns:a16="http://schemas.microsoft.com/office/drawing/2014/main" id="{71638588-257B-9AE4-B63E-EC32DDDE01F1}"/>
                </a:ext>
              </a:extLst>
            </p:cNvPr>
            <p:cNvSpPr/>
            <p:nvPr/>
          </p:nvSpPr>
          <p:spPr>
            <a:xfrm>
              <a:off x="0" y="0"/>
              <a:ext cx="1776642" cy="1336686"/>
            </a:xfrm>
            <a:custGeom>
              <a:avLst/>
              <a:gdLst/>
              <a:ahLst/>
              <a:cxnLst/>
              <a:rect l="l" t="t" r="r" b="b"/>
              <a:pathLst>
                <a:path w="1776642" h="1336686">
                  <a:moveTo>
                    <a:pt x="19511" y="0"/>
                  </a:moveTo>
                  <a:lnTo>
                    <a:pt x="1757131" y="0"/>
                  </a:lnTo>
                  <a:cubicBezTo>
                    <a:pt x="1762306" y="0"/>
                    <a:pt x="1767268" y="2056"/>
                    <a:pt x="1770927" y="5715"/>
                  </a:cubicBezTo>
                  <a:cubicBezTo>
                    <a:pt x="1774586" y="9373"/>
                    <a:pt x="1776642" y="14336"/>
                    <a:pt x="1776642" y="19511"/>
                  </a:cubicBezTo>
                  <a:lnTo>
                    <a:pt x="1776642" y="1317176"/>
                  </a:lnTo>
                  <a:cubicBezTo>
                    <a:pt x="1776642" y="1327951"/>
                    <a:pt x="1767907" y="1336686"/>
                    <a:pt x="1757131" y="1336686"/>
                  </a:cubicBezTo>
                  <a:lnTo>
                    <a:pt x="19511" y="1336686"/>
                  </a:lnTo>
                  <a:cubicBezTo>
                    <a:pt x="8735" y="1336686"/>
                    <a:pt x="0" y="1327951"/>
                    <a:pt x="0" y="1317176"/>
                  </a:cubicBezTo>
                  <a:lnTo>
                    <a:pt x="0" y="19511"/>
                  </a:lnTo>
                  <a:cubicBezTo>
                    <a:pt x="0" y="8735"/>
                    <a:pt x="8735" y="0"/>
                    <a:pt x="195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37" name="TextBox 23">
              <a:extLst>
                <a:ext uri="{FF2B5EF4-FFF2-40B4-BE49-F238E27FC236}">
                  <a16:creationId xmlns:a16="http://schemas.microsoft.com/office/drawing/2014/main" id="{5B820FD8-CBB5-D79E-3485-B8146D0CB190}"/>
                </a:ext>
              </a:extLst>
            </p:cNvPr>
            <p:cNvSpPr txBox="1"/>
            <p:nvPr/>
          </p:nvSpPr>
          <p:spPr>
            <a:xfrm>
              <a:off x="0" y="-38100"/>
              <a:ext cx="1776642" cy="1374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8" name="TextBox 17">
            <a:extLst>
              <a:ext uri="{FF2B5EF4-FFF2-40B4-BE49-F238E27FC236}">
                <a16:creationId xmlns:a16="http://schemas.microsoft.com/office/drawing/2014/main" id="{C4E8ECEE-AE36-3B7C-2554-16F567D0BBAE}"/>
              </a:ext>
            </a:extLst>
          </p:cNvPr>
          <p:cNvSpPr txBox="1"/>
          <p:nvPr/>
        </p:nvSpPr>
        <p:spPr>
          <a:xfrm>
            <a:off x="10513613" y="3268801"/>
            <a:ext cx="6745687" cy="10403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 spc="-139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CONSIDERAZIONI FINALI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it-IT" sz="2499" spc="-9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sfida futura è quella di trovare un equilibrio: </a:t>
            </a:r>
          </a:p>
        </p:txBody>
      </p:sp>
      <p:sp>
        <p:nvSpPr>
          <p:cNvPr id="39" name="AutoShape 11">
            <a:extLst>
              <a:ext uri="{FF2B5EF4-FFF2-40B4-BE49-F238E27FC236}">
                <a16:creationId xmlns:a16="http://schemas.microsoft.com/office/drawing/2014/main" id="{3799C793-00C7-5C4A-F804-58A0DDF0F897}"/>
              </a:ext>
            </a:extLst>
          </p:cNvPr>
          <p:cNvSpPr/>
          <p:nvPr/>
        </p:nvSpPr>
        <p:spPr>
          <a:xfrm>
            <a:off x="10828784" y="4611827"/>
            <a:ext cx="6090578" cy="0"/>
          </a:xfrm>
          <a:prstGeom prst="line">
            <a:avLst/>
          </a:prstGeom>
          <a:ln w="104775" cap="flat">
            <a:solidFill>
              <a:srgbClr val="000000">
                <a:alpha val="2078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0" name="AutoShape 12">
            <a:extLst>
              <a:ext uri="{FF2B5EF4-FFF2-40B4-BE49-F238E27FC236}">
                <a16:creationId xmlns:a16="http://schemas.microsoft.com/office/drawing/2014/main" id="{006BEC75-BE5D-F8C0-4746-E8136FBE8B72}"/>
              </a:ext>
            </a:extLst>
          </p:cNvPr>
          <p:cNvSpPr/>
          <p:nvPr/>
        </p:nvSpPr>
        <p:spPr>
          <a:xfrm>
            <a:off x="13874073" y="4316552"/>
            <a:ext cx="0" cy="6451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1" name="Freeform 14">
            <a:extLst>
              <a:ext uri="{FF2B5EF4-FFF2-40B4-BE49-F238E27FC236}">
                <a16:creationId xmlns:a16="http://schemas.microsoft.com/office/drawing/2014/main" id="{5421FD61-5482-DF99-1728-4198151BB921}"/>
              </a:ext>
            </a:extLst>
          </p:cNvPr>
          <p:cNvSpPr/>
          <p:nvPr/>
        </p:nvSpPr>
        <p:spPr>
          <a:xfrm>
            <a:off x="12135841" y="4961749"/>
            <a:ext cx="562330" cy="562330"/>
          </a:xfrm>
          <a:custGeom>
            <a:avLst/>
            <a:gdLst/>
            <a:ahLst/>
            <a:cxnLst/>
            <a:rect l="l" t="t" r="r" b="b"/>
            <a:pathLst>
              <a:path w="562330" h="562330">
                <a:moveTo>
                  <a:pt x="0" y="0"/>
                </a:moveTo>
                <a:lnTo>
                  <a:pt x="562330" y="0"/>
                </a:lnTo>
                <a:lnTo>
                  <a:pt x="562330" y="562330"/>
                </a:lnTo>
                <a:lnTo>
                  <a:pt x="0" y="5623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2" name="TextBox 18">
            <a:extLst>
              <a:ext uri="{FF2B5EF4-FFF2-40B4-BE49-F238E27FC236}">
                <a16:creationId xmlns:a16="http://schemas.microsoft.com/office/drawing/2014/main" id="{EBFD13AB-24E6-8A1B-50CE-425EFE229140}"/>
              </a:ext>
            </a:extLst>
          </p:cNvPr>
          <p:cNvSpPr txBox="1"/>
          <p:nvPr/>
        </p:nvSpPr>
        <p:spPr>
          <a:xfrm>
            <a:off x="10957784" y="5501293"/>
            <a:ext cx="2918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72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PROGRESSO TECNOLOGICO</a:t>
            </a:r>
          </a:p>
        </p:txBody>
      </p:sp>
      <p:sp>
        <p:nvSpPr>
          <p:cNvPr id="43" name="Freeform 13">
            <a:extLst>
              <a:ext uri="{FF2B5EF4-FFF2-40B4-BE49-F238E27FC236}">
                <a16:creationId xmlns:a16="http://schemas.microsoft.com/office/drawing/2014/main" id="{D2D39E16-A370-1687-AA2B-55873755B11F}"/>
              </a:ext>
            </a:extLst>
          </p:cNvPr>
          <p:cNvSpPr/>
          <p:nvPr/>
        </p:nvSpPr>
        <p:spPr>
          <a:xfrm>
            <a:off x="15212857" y="4961749"/>
            <a:ext cx="567472" cy="567472"/>
          </a:xfrm>
          <a:custGeom>
            <a:avLst/>
            <a:gdLst/>
            <a:ahLst/>
            <a:cxnLst/>
            <a:rect l="l" t="t" r="r" b="b"/>
            <a:pathLst>
              <a:path w="567472" h="567472">
                <a:moveTo>
                  <a:pt x="0" y="0"/>
                </a:moveTo>
                <a:lnTo>
                  <a:pt x="567472" y="0"/>
                </a:lnTo>
                <a:lnTo>
                  <a:pt x="567472" y="567472"/>
                </a:lnTo>
                <a:lnTo>
                  <a:pt x="0" y="5674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4" name="TextBox 19">
            <a:extLst>
              <a:ext uri="{FF2B5EF4-FFF2-40B4-BE49-F238E27FC236}">
                <a16:creationId xmlns:a16="http://schemas.microsoft.com/office/drawing/2014/main" id="{11401C93-3712-B474-6519-3B21632C61AC}"/>
              </a:ext>
            </a:extLst>
          </p:cNvPr>
          <p:cNvSpPr txBox="1"/>
          <p:nvPr/>
        </p:nvSpPr>
        <p:spPr>
          <a:xfrm>
            <a:off x="14502235" y="5501293"/>
            <a:ext cx="198871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CAPACITÀ SOCIALE</a:t>
            </a:r>
          </a:p>
        </p:txBody>
      </p:sp>
      <p:sp>
        <p:nvSpPr>
          <p:cNvPr id="45" name="TextBox 20">
            <a:extLst>
              <a:ext uri="{FF2B5EF4-FFF2-40B4-BE49-F238E27FC236}">
                <a16:creationId xmlns:a16="http://schemas.microsoft.com/office/drawing/2014/main" id="{6599D6E2-40F1-7560-F328-4F4B35629B56}"/>
              </a:ext>
            </a:extLst>
          </p:cNvPr>
          <p:cNvSpPr txBox="1"/>
          <p:nvPr/>
        </p:nvSpPr>
        <p:spPr>
          <a:xfrm>
            <a:off x="10828784" y="6341398"/>
            <a:ext cx="6182288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it-IT" sz="2499" spc="-99" noProof="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Il progresso tecnologico non dovrà arrestarsi, ma evolvere in sintonia con la capacità della società di comprenderlo ed elaborarlo</a:t>
            </a:r>
          </a:p>
        </p:txBody>
      </p:sp>
    </p:spTree>
    <p:extLst>
      <p:ext uri="{BB962C8B-B14F-4D97-AF65-F5344CB8AC3E}">
        <p14:creationId xmlns:p14="http://schemas.microsoft.com/office/powerpoint/2010/main" val="927254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C9D39-55D0-DB6E-9C48-F2499A73A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">
            <a:extLst>
              <a:ext uri="{FF2B5EF4-FFF2-40B4-BE49-F238E27FC236}">
                <a16:creationId xmlns:a16="http://schemas.microsoft.com/office/drawing/2014/main" id="{3052C2BF-4FF7-8779-FFAA-66AC8FA00D3C}"/>
              </a:ext>
            </a:extLst>
          </p:cNvPr>
          <p:cNvGrpSpPr/>
          <p:nvPr/>
        </p:nvGrpSpPr>
        <p:grpSpPr>
          <a:xfrm rot="5400000">
            <a:off x="-2679906" y="2153574"/>
            <a:ext cx="10730064" cy="5979852"/>
            <a:chOff x="0" y="0"/>
            <a:chExt cx="3845413" cy="2143044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54C3E6EE-1969-3410-EA59-E6328C0CC1A7}"/>
                </a:ext>
              </a:extLst>
            </p:cNvPr>
            <p:cNvSpPr/>
            <p:nvPr/>
          </p:nvSpPr>
          <p:spPr>
            <a:xfrm>
              <a:off x="0" y="0"/>
              <a:ext cx="3845413" cy="2143044"/>
            </a:xfrm>
            <a:custGeom>
              <a:avLst/>
              <a:gdLst/>
              <a:ahLst/>
              <a:cxnLst/>
              <a:rect l="l" t="t" r="r" b="b"/>
              <a:pathLst>
                <a:path w="3845413" h="2143044">
                  <a:moveTo>
                    <a:pt x="0" y="0"/>
                  </a:moveTo>
                  <a:lnTo>
                    <a:pt x="3845413" y="0"/>
                  </a:lnTo>
                  <a:lnTo>
                    <a:pt x="3845413" y="2143044"/>
                  </a:lnTo>
                  <a:lnTo>
                    <a:pt x="0" y="2143044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1D402868-E87D-38F8-1B77-FBC91D08321F}"/>
                </a:ext>
              </a:extLst>
            </p:cNvPr>
            <p:cNvSpPr txBox="1"/>
            <p:nvPr/>
          </p:nvSpPr>
          <p:spPr>
            <a:xfrm>
              <a:off x="0" y="-47625"/>
              <a:ext cx="3845413" cy="2190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5" name="Freeform 7">
            <a:extLst>
              <a:ext uri="{FF2B5EF4-FFF2-40B4-BE49-F238E27FC236}">
                <a16:creationId xmlns:a16="http://schemas.microsoft.com/office/drawing/2014/main" id="{062803ED-7EFF-A83E-9A29-A7CA0A96C865}"/>
              </a:ext>
            </a:extLst>
          </p:cNvPr>
          <p:cNvSpPr/>
          <p:nvPr/>
        </p:nvSpPr>
        <p:spPr>
          <a:xfrm>
            <a:off x="5235230" y="1031452"/>
            <a:ext cx="948381" cy="1520727"/>
          </a:xfrm>
          <a:custGeom>
            <a:avLst/>
            <a:gdLst/>
            <a:ahLst/>
            <a:cxnLst/>
            <a:rect l="l" t="t" r="r" b="b"/>
            <a:pathLst>
              <a:path w="948381" h="1520727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A4F7D7E7-8A5C-FD95-FF03-2090159A822D}"/>
              </a:ext>
            </a:extLst>
          </p:cNvPr>
          <p:cNvSpPr txBox="1"/>
          <p:nvPr/>
        </p:nvSpPr>
        <p:spPr>
          <a:xfrm>
            <a:off x="232055" y="8928735"/>
            <a:ext cx="5003175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STATISTICA E GESTIONE DELLE INFORMAZIONI</a:t>
            </a: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 spc="-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ANNO 2024/2025</a:t>
            </a: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47872BCB-4F45-0E07-C5F5-6BF44B5C1233}"/>
              </a:ext>
            </a:extLst>
          </p:cNvPr>
          <p:cNvSpPr txBox="1"/>
          <p:nvPr/>
        </p:nvSpPr>
        <p:spPr>
          <a:xfrm>
            <a:off x="4841242" y="3011904"/>
            <a:ext cx="12418058" cy="193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224"/>
              </a:lnSpc>
            </a:pPr>
            <a:r>
              <a:rPr lang="en-US" sz="8499" b="1" spc="-637" dirty="0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GRAZIE PER L’ATTENZIONE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F00EC4E8-AEEA-9C0F-306C-6430B5F5244D}"/>
              </a:ext>
            </a:extLst>
          </p:cNvPr>
          <p:cNvSpPr txBox="1"/>
          <p:nvPr/>
        </p:nvSpPr>
        <p:spPr>
          <a:xfrm>
            <a:off x="9412573" y="4875624"/>
            <a:ext cx="7846727" cy="627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040"/>
              </a:lnSpc>
              <a:spcBef>
                <a:spcPct val="0"/>
              </a:spcBef>
            </a:pPr>
            <a:r>
              <a:rPr lang="en-US" sz="3600" spc="-27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ANDREA PORRO</a:t>
            </a: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913182C9-37FA-8D49-AB88-9FCC394002DC}"/>
              </a:ext>
            </a:extLst>
          </p:cNvPr>
          <p:cNvSpPr txBox="1"/>
          <p:nvPr/>
        </p:nvSpPr>
        <p:spPr>
          <a:xfrm>
            <a:off x="14409128" y="856298"/>
            <a:ext cx="285017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DICEMBRE 2025</a:t>
            </a:r>
          </a:p>
        </p:txBody>
      </p:sp>
    </p:spTree>
    <p:extLst>
      <p:ext uri="{BB962C8B-B14F-4D97-AF65-F5344CB8AC3E}">
        <p14:creationId xmlns:p14="http://schemas.microsoft.com/office/powerpoint/2010/main" val="1479005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8946</TotalTime>
  <Words>660</Words>
  <Application>Microsoft Macintosh PowerPoint</Application>
  <PresentationFormat>Personalizzato</PresentationFormat>
  <Paragraphs>117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9" baseType="lpstr">
      <vt:lpstr>Inter</vt:lpstr>
      <vt:lpstr>Arial</vt:lpstr>
      <vt:lpstr>Calibri</vt:lpstr>
      <vt:lpstr>Inter Semi-Bold</vt:lpstr>
      <vt:lpstr>Fry's Baskerville</vt:lpstr>
      <vt:lpstr>Inter Bold</vt:lpstr>
      <vt:lpstr>Inter Light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TESI</dc:title>
  <cp:lastModifiedBy>a.porro17@campus.unimib.it</cp:lastModifiedBy>
  <cp:revision>12</cp:revision>
  <dcterms:created xsi:type="dcterms:W3CDTF">2006-08-16T00:00:00Z</dcterms:created>
  <dcterms:modified xsi:type="dcterms:W3CDTF">2025-12-13T10:22:26Z</dcterms:modified>
  <dc:identifier>DAG6XzJssZU</dc:identifier>
</cp:coreProperties>
</file>